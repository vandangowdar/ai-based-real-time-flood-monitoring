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69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521415D9-36F7-43E2-AB2F-B90AF26B5E84}">
      <p14:sectionLst xmlns:p14="http://schemas.microsoft.com/office/powerpoint/2010/main">
        <p14:section name="Default Section" id="{738CD837-035C-46E2-B2CD-6B9801A98838}">
          <p14:sldIdLst>
            <p14:sldId id="269"/>
            <p14:sldId id="257"/>
            <p14:sldId id="258"/>
          </p14:sldIdLst>
        </p14:section>
        <p14:section name="Untitled Section" id="{31FE00A8-FCB6-4DFE-8CC9-62BAB291060A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AC790591-3F40-40F1-8FFC-E013A1778043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FC23E2FA-375D-4484-96F0-205A5048E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932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AC790591-3F40-40F1-8FFC-E013A1778043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FC23E2FA-375D-4484-96F0-205A5048E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56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AC790591-3F40-40F1-8FFC-E013A1778043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FC23E2FA-375D-4484-96F0-205A5048E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750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AC790591-3F40-40F1-8FFC-E013A1778043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FC23E2FA-375D-4484-96F0-205A5048E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746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AC790591-3F40-40F1-8FFC-E013A1778043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FC23E2FA-375D-4484-96F0-205A5048E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466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AC790591-3F40-40F1-8FFC-E013A1778043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FC23E2FA-375D-4484-96F0-205A5048E5BC}" type="slidenum">
              <a:rPr lang="en-IN" smtClean="0"/>
              <a:t>‹#›</a:t>
            </a:fld>
            <a:endParaRPr lang="en-IN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3886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AC790591-3F40-40F1-8FFC-E013A1778043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FC23E2FA-375D-4484-96F0-205A5048E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993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AC790591-3F40-40F1-8FFC-E013A1778043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FC23E2FA-375D-4484-96F0-205A5048E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999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AC790591-3F40-40F1-8FFC-E013A1778043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FC23E2FA-375D-4484-96F0-205A5048E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312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AC790591-3F40-40F1-8FFC-E013A1778043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FC23E2FA-375D-4484-96F0-205A5048E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AC790591-3F40-40F1-8FFC-E013A1778043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FC23E2FA-375D-4484-96F0-205A5048E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377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fld id="{AC790591-3F40-40F1-8FFC-E013A1778043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 lang="en-IN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fld id="{FC23E2FA-375D-4484-96F0-205A5048E5BC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568620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54D017-468E-38F2-64CC-32E38F57A81D}"/>
              </a:ext>
            </a:extLst>
          </p:cNvPr>
          <p:cNvSpPr txBox="1"/>
          <p:nvPr/>
        </p:nvSpPr>
        <p:spPr>
          <a:xfrm>
            <a:off x="4139380" y="183833"/>
            <a:ext cx="3234813" cy="838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rgbClr val="17365D"/>
              </a:buClr>
              <a:buSzPct val="100000"/>
            </a:pPr>
            <a:r>
              <a:rPr lang="en-GB" sz="16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CSE7101- Capstone Project</a:t>
            </a:r>
            <a:endParaRPr lang="en-GB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>
              <a:spcBef>
                <a:spcPts val="310"/>
              </a:spcBef>
              <a:buClr>
                <a:srgbClr val="17365D"/>
              </a:buClr>
              <a:buSzPct val="100000"/>
            </a:pPr>
            <a:r>
              <a:rPr lang="en-GB" sz="16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Review-2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B76A65-270E-B855-C687-8AB61BC42881}"/>
              </a:ext>
            </a:extLst>
          </p:cNvPr>
          <p:cNvSpPr txBox="1"/>
          <p:nvPr/>
        </p:nvSpPr>
        <p:spPr>
          <a:xfrm>
            <a:off x="457200" y="1180259"/>
            <a:ext cx="10599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/>
              <a:t>“</a:t>
            </a:r>
            <a:r>
              <a:rPr lang="en-IN" sz="2400" dirty="0"/>
              <a:t>AI-Based Real-Time Flood Monitoring &amp; Forecasting”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DBD60E-7B5E-4C64-9DA3-41E342EDDE99}"/>
              </a:ext>
            </a:extLst>
          </p:cNvPr>
          <p:cNvSpPr txBox="1"/>
          <p:nvPr/>
        </p:nvSpPr>
        <p:spPr>
          <a:xfrm>
            <a:off x="865239" y="1946787"/>
            <a:ext cx="2851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</a:t>
            </a:r>
            <a:r>
              <a:rPr lang="en-IN" alt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CAI_3</a:t>
            </a:r>
          </a:p>
          <a:p>
            <a:endParaRPr lang="en-IN" sz="18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9706C63-61D8-25C0-B60F-9DE5FC166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502421"/>
              </p:ext>
            </p:extLst>
          </p:nvPr>
        </p:nvGraphicFramePr>
        <p:xfrm>
          <a:off x="783303" y="2593118"/>
          <a:ext cx="4994788" cy="148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97394">
                  <a:extLst>
                    <a:ext uri="{9D8B030D-6E8A-4147-A177-3AD203B41FA5}">
                      <a16:colId xmlns:a16="http://schemas.microsoft.com/office/drawing/2014/main" val="2369793439"/>
                    </a:ext>
                  </a:extLst>
                </a:gridCol>
                <a:gridCol w="2497394">
                  <a:extLst>
                    <a:ext uri="{9D8B030D-6E8A-4147-A177-3AD203B41FA5}">
                      <a16:colId xmlns:a16="http://schemas.microsoft.com/office/drawing/2014/main" val="25852255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 Number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721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dirty="0"/>
                        <a:t>20231CAI3009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dirty="0"/>
                        <a:t>VANDAN GOWDA 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5527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20221CAI0118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dirty="0"/>
                        <a:t>VAISHNAVI SALUNKE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565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20221CAI0112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dirty="0"/>
                        <a:t>ANUSHA H 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64871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6FE8068-0932-B1E2-7FB3-CD7B14FC9D53}"/>
              </a:ext>
            </a:extLst>
          </p:cNvPr>
          <p:cNvSpPr txBox="1"/>
          <p:nvPr/>
        </p:nvSpPr>
        <p:spPr>
          <a:xfrm>
            <a:off x="6413910" y="2444903"/>
            <a:ext cx="6803922" cy="2287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rgbClr val="17365D"/>
              </a:buClr>
              <a:buSzPts val="2000"/>
            </a:pPr>
            <a:r>
              <a:rPr lang="en-US" sz="16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400"/>
              </a:spcBef>
              <a:buClr>
                <a:srgbClr val="17365D"/>
              </a:buClr>
              <a:buSzPts val="2000"/>
            </a:pPr>
            <a:endParaRPr lang="en-US" sz="1600" b="1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600" b="1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Dr.Mohammadi</a:t>
            </a:r>
            <a:r>
              <a:rPr lang="en-US" sz="16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Akheela Khanum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6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Professor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6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of Computer Science and Engineering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6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400"/>
              </a:spcBef>
              <a:buClr>
                <a:srgbClr val="17365D"/>
              </a:buClr>
              <a:buSzPts val="2000"/>
            </a:pPr>
            <a:endParaRPr lang="en-US" sz="1600" b="1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3BE8C7-C2BF-4CB5-B7A5-A2602E02F603}"/>
              </a:ext>
            </a:extLst>
          </p:cNvPr>
          <p:cNvSpPr txBox="1"/>
          <p:nvPr/>
        </p:nvSpPr>
        <p:spPr>
          <a:xfrm>
            <a:off x="783304" y="4208206"/>
            <a:ext cx="1126121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18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B.Tech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Computer Science &amp; Engineering(Artificial Intelligence &amp; Machine Learning)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</a:t>
            </a:r>
            <a:r>
              <a:rPr lang="en-US" sz="18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HoD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: </a:t>
            </a:r>
            <a:r>
              <a:rPr lang="en-US" sz="18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Dr.Zafar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Ali Khan N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Ms. Suma N G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Sampath A K , Dr. Geetha A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6140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07EAA-79D5-8518-83E0-C583DCC0F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ABSTRACT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AD251-AD12-7056-500B-295D59676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55600" algn="just">
              <a:spcBef>
                <a:spcPts val="95"/>
              </a:spcBef>
              <a:buFont typeface="Wingdings"/>
              <a:buChar char=""/>
              <a:tabLst>
                <a:tab pos="35560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Flood</a:t>
            </a:r>
            <a:r>
              <a:rPr lang="en-US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</a:t>
            </a:r>
            <a:r>
              <a:rPr lang="en-US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en-US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</a:t>
            </a:r>
            <a:r>
              <a:rPr lang="en-US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predetermination</a:t>
            </a:r>
            <a:r>
              <a:rPr lang="en-US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flood</a:t>
            </a:r>
            <a:r>
              <a:rPr lang="en-US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events</a:t>
            </a:r>
            <a:r>
              <a:rPr lang="en-US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necessary</a:t>
            </a: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</a:t>
            </a:r>
            <a:r>
              <a:rPr lang="en-US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</a:t>
            </a:r>
            <a:r>
              <a:rPr lang="en-US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</a:t>
            </a:r>
            <a:r>
              <a:rPr lang="en-US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</a:t>
            </a:r>
            <a:r>
              <a:rPr lang="en-US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flood</a:t>
            </a:r>
            <a:r>
              <a:rPr lang="en-US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damages.</a:t>
            </a:r>
          </a:p>
          <a:p>
            <a:pPr marL="355600" algn="just">
              <a:spcBef>
                <a:spcPts val="95"/>
              </a:spcBef>
              <a:buFont typeface="Wingdings"/>
              <a:buChar char=""/>
              <a:tabLst>
                <a:tab pos="355600" algn="l"/>
              </a:tabLs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19685" algn="just">
              <a:spcBef>
                <a:spcPts val="530"/>
              </a:spcBef>
              <a:buFont typeface="Wingdings"/>
              <a:buChar char=""/>
              <a:tabLst>
                <a:tab pos="35560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</a:t>
            </a:r>
            <a:r>
              <a:rPr lang="en-US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regulation</a:t>
            </a:r>
            <a:r>
              <a:rPr lang="en-US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</a:t>
            </a:r>
            <a:r>
              <a:rPr lang="en-US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multipurpose</a:t>
            </a:r>
            <a:r>
              <a:rPr lang="en-US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reservoirs</a:t>
            </a:r>
            <a:r>
              <a:rPr lang="en-US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</a:t>
            </a: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en-US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incoming</a:t>
            </a:r>
            <a:r>
              <a:rPr lang="en-US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floods,</a:t>
            </a:r>
            <a:r>
              <a:rPr lang="en-US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evacuation</a:t>
            </a:r>
            <a:r>
              <a:rPr lang="en-US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affected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  <a:r>
              <a:rPr lang="en-US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safer places.</a:t>
            </a:r>
          </a:p>
          <a:p>
            <a:pPr marL="354965" marR="19685" algn="just">
              <a:spcBef>
                <a:spcPts val="530"/>
              </a:spcBef>
              <a:buFont typeface="Wingdings"/>
              <a:buChar char=""/>
              <a:tabLst>
                <a:tab pos="355600" algn="l"/>
              </a:tabLs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algn="just">
              <a:spcBef>
                <a:spcPts val="530"/>
              </a:spcBef>
              <a:buFont typeface="Wingdings"/>
              <a:buChar char=""/>
              <a:tabLst>
                <a:tab pos="35560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lang="en-US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n-US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were</a:t>
            </a:r>
            <a:r>
              <a:rPr lang="en-US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typically</a:t>
            </a:r>
            <a:r>
              <a:rPr lang="en-US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en-US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</a:t>
            </a:r>
            <a:r>
              <a:rPr lang="en-US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</a:t>
            </a:r>
            <a:r>
              <a:rPr lang="en-US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  <a:r>
              <a:rPr lang="en-US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</a:t>
            </a:r>
            <a:r>
              <a:rPr lang="en-US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tedious</a:t>
            </a:r>
            <a:r>
              <a:rPr lang="en-US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</a:t>
            </a:r>
            <a:r>
              <a:rPr lang="en-US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prohibitive</a:t>
            </a:r>
            <a:r>
              <a:rPr lang="en-US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</a:t>
            </a:r>
            <a:r>
              <a:rPr lang="en-US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forecasts.</a:t>
            </a:r>
          </a:p>
          <a:p>
            <a:pPr marL="355600" algn="just">
              <a:spcBef>
                <a:spcPts val="530"/>
              </a:spcBef>
              <a:buFont typeface="Wingdings"/>
              <a:buChar char=""/>
              <a:tabLst>
                <a:tab pos="355600" algn="l"/>
              </a:tabLs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63880" algn="just">
              <a:spcBef>
                <a:spcPts val="525"/>
              </a:spcBef>
              <a:buFont typeface="Wingdings"/>
              <a:buChar char=""/>
              <a:tabLst>
                <a:tab pos="355600" algn="l"/>
              </a:tabLst>
            </a:pP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</a:t>
            </a:r>
            <a:r>
              <a:rPr lang="en-US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flood</a:t>
            </a:r>
            <a:r>
              <a:rPr lang="en-US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</a:t>
            </a:r>
            <a:r>
              <a:rPr lang="en-US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en-US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fusing</a:t>
            </a: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meteorological,</a:t>
            </a:r>
            <a:r>
              <a:rPr lang="en-US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hydrological,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geospatial,</a:t>
            </a:r>
            <a:r>
              <a:rPr lang="en-US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crowd</a:t>
            </a: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n-US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</a:t>
            </a:r>
            <a:r>
              <a:rPr lang="en-US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</a:t>
            </a:r>
            <a:r>
              <a:rPr lang="en-US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lang="en-US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en-US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8612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4588F-5F8F-5F10-2793-A055AB0CC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Literature Survey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B6EDD28-AB9C-FA7C-6461-D5FFF7F48E02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257518066"/>
              </p:ext>
            </p:extLst>
          </p:nvPr>
        </p:nvGraphicFramePr>
        <p:xfrm>
          <a:off x="1651819" y="1307690"/>
          <a:ext cx="9601200" cy="46899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1278646855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747513644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445827929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3230570377"/>
                    </a:ext>
                  </a:extLst>
                </a:gridCol>
              </a:tblGrid>
              <a:tr h="67395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Reference (year, source)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220215"/>
                  </a:ext>
                </a:extLst>
              </a:tr>
              <a:tr h="108017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Nearing et al., </a:t>
                      </a:r>
                      <a:r>
                        <a:rPr lang="en-US" sz="1100" i="1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Global prediction of extreme floods in ungauged watersheds</a:t>
                      </a:r>
                      <a:r>
                        <a:rPr lang="en-US" sz="11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 (2024, </a:t>
                      </a:r>
                      <a:r>
                        <a:rPr lang="en-US" sz="1100" i="1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Nature</a:t>
                      </a:r>
                      <a:r>
                        <a:rPr lang="en-US" sz="1100" dirty="0"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sz="1100" dirty="0"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" panose="020B0004020202020204" pitchFamily="34" charset="0"/>
                        </a:rPr>
                        <a:t>AI models trained on multi-basin data; benchmark against Copernicus EMS </a:t>
                      </a:r>
                      <a:r>
                        <a:rPr lang="en-US" sz="1100" dirty="0" err="1">
                          <a:latin typeface="Aptos" panose="020B0004020202020204" pitchFamily="34" charset="0"/>
                        </a:rPr>
                        <a:t>GloFAS</a:t>
                      </a:r>
                      <a:r>
                        <a:rPr lang="en-US" sz="1100" dirty="0">
                          <a:latin typeface="Aptos" panose="020B0004020202020204" pitchFamily="34" charset="0"/>
                        </a:rPr>
                        <a:t>.</a:t>
                      </a:r>
                      <a:endParaRPr lang="en-IN" sz="11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" panose="020B0004020202020204" pitchFamily="34" charset="0"/>
                        </a:rPr>
                        <a:t>Requires extensive training data and careful uncertainty quantification.</a:t>
                      </a:r>
                      <a:endParaRPr lang="en-IN" sz="11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29344"/>
                  </a:ext>
                </a:extLst>
              </a:tr>
              <a:tr h="77551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" panose="020B0004020202020204" pitchFamily="34" charset="0"/>
                        </a:rPr>
                        <a:t>Li et al., </a:t>
                      </a:r>
                      <a:r>
                        <a:rPr lang="en-US" sz="1100" i="1" dirty="0">
                          <a:latin typeface="Aptos" panose="020B0004020202020204" pitchFamily="34" charset="0"/>
                        </a:rPr>
                        <a:t>Optimizing flood predictions by integrating LSTM</a:t>
                      </a:r>
                      <a:r>
                        <a:rPr lang="en-US" sz="1100" dirty="0">
                          <a:latin typeface="Aptos" panose="020B0004020202020204" pitchFamily="34" charset="0"/>
                        </a:rPr>
                        <a:t> (2024)</a:t>
                      </a:r>
                      <a:endParaRPr lang="en-IN" sz="11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" panose="020B0004020202020204" pitchFamily="34" charset="0"/>
                        </a:rPr>
                        <a:t>LSTM + feature engineering + hyperparameter optimization</a:t>
                      </a:r>
                      <a:endParaRPr lang="en-IN" sz="11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" panose="020B0004020202020204" pitchFamily="34" charset="0"/>
                        </a:rPr>
                        <a:t>May need per-site tuning; risk of overfitting if not regularized</a:t>
                      </a:r>
                      <a:endParaRPr lang="en-IN" sz="11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2593356"/>
                  </a:ext>
                </a:extLst>
              </a:tr>
              <a:tr h="108017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" panose="020B0004020202020204" pitchFamily="34" charset="0"/>
                        </a:rPr>
                        <a:t>Wahba et al., </a:t>
                      </a:r>
                      <a:r>
                        <a:rPr lang="en-US" sz="1100" i="1" dirty="0">
                          <a:latin typeface="Aptos" panose="020B0004020202020204" pitchFamily="34" charset="0"/>
                        </a:rPr>
                        <a:t>Flash-flood susceptibility mapping using Random Forest</a:t>
                      </a:r>
                      <a:r>
                        <a:rPr lang="en-US" sz="1100" dirty="0">
                          <a:latin typeface="Aptos" panose="020B0004020202020204" pitchFamily="34" charset="0"/>
                        </a:rPr>
                        <a:t> (2024)</a:t>
                      </a:r>
                      <a:endParaRPr lang="en-IN" sz="11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" panose="020B0004020202020204" pitchFamily="34" charset="0"/>
                        </a:rPr>
                        <a:t>Random Forest, GIS predictors, susceptibility maps</a:t>
                      </a:r>
                      <a:endParaRPr lang="en-IN" sz="11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" panose="020B0004020202020204" pitchFamily="34" charset="0"/>
                        </a:rPr>
                        <a:t>Susceptibility  real-time forecasting; needs static input layers.</a:t>
                      </a:r>
                      <a:endParaRPr lang="en-IN" sz="11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339905"/>
                  </a:ext>
                </a:extLst>
              </a:tr>
              <a:tr h="108017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" panose="020B0004020202020204" pitchFamily="34" charset="0"/>
                        </a:rPr>
                        <a:t>Wahba et al., </a:t>
                      </a:r>
                      <a:r>
                        <a:rPr lang="en-US" sz="1100" i="1" dirty="0">
                          <a:latin typeface="Aptos" panose="020B0004020202020204" pitchFamily="34" charset="0"/>
                        </a:rPr>
                        <a:t>Flash-flood susceptibility mapping using Random Forest</a:t>
                      </a:r>
                      <a:r>
                        <a:rPr lang="en-US" sz="1100" dirty="0">
                          <a:latin typeface="Aptos" panose="020B0004020202020204" pitchFamily="34" charset="0"/>
                        </a:rPr>
                        <a:t> (2024</a:t>
                      </a:r>
                      <a:endParaRPr lang="en-IN" sz="11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Aptos" panose="020B0004020202020204" pitchFamily="34" charset="0"/>
                        </a:rPr>
                        <a:t>Minimalist data-driven hydrology + ML 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" panose="020B0004020202020204" pitchFamily="34" charset="0"/>
                        </a:rPr>
                        <a:t>May underperform where physics detail is needed for inundation mapping</a:t>
                      </a:r>
                      <a:endParaRPr lang="en-IN" sz="11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796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6913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67F6E22-C69B-8443-E8EF-9CD746B5E8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151253"/>
              </p:ext>
            </p:extLst>
          </p:nvPr>
        </p:nvGraphicFramePr>
        <p:xfrm>
          <a:off x="2032000" y="1229032"/>
          <a:ext cx="8128000" cy="487506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75862098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443982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906573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81751431"/>
                    </a:ext>
                  </a:extLst>
                </a:gridCol>
              </a:tblGrid>
              <a:tr h="10131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" panose="020B0004020202020204" pitchFamily="34" charset="0"/>
                        </a:rPr>
                        <a:t>Rajab et al., </a:t>
                      </a:r>
                      <a:r>
                        <a:rPr lang="en-US" sz="1100" i="1" dirty="0">
                          <a:latin typeface="Aptos" panose="020B0004020202020204" pitchFamily="34" charset="0"/>
                        </a:rPr>
                        <a:t>Flood forecasting with ML: a study</a:t>
                      </a:r>
                      <a:r>
                        <a:rPr lang="en-US" sz="1100" dirty="0">
                          <a:latin typeface="Aptos" panose="020B0004020202020204" pitchFamily="34" charset="0"/>
                        </a:rPr>
                        <a:t> (2023, </a:t>
                      </a:r>
                      <a:r>
                        <a:rPr lang="en-US" sz="1100" i="1" dirty="0">
                          <a:latin typeface="Aptos" panose="020B0004020202020204" pitchFamily="34" charset="0"/>
                        </a:rPr>
                        <a:t>Water</a:t>
                      </a:r>
                      <a:r>
                        <a:rPr lang="en-US" sz="1100" dirty="0">
                          <a:latin typeface="Aptos" panose="020B0004020202020204" pitchFamily="34" charset="0"/>
                        </a:rPr>
                        <a:t>)</a:t>
                      </a:r>
                      <a:endParaRPr lang="en-IN" sz="11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" panose="020B0004020202020204" pitchFamily="34" charset="0"/>
                        </a:rPr>
                        <a:t>ML algorithms (incl. RF, ANN, SVM), evaluation by R², RMSE</a:t>
                      </a:r>
                      <a:endParaRPr lang="en-IN" sz="11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" panose="020B0004020202020204" pitchFamily="34" charset="0"/>
                        </a:rPr>
                        <a:t>Region-specific results; meteorological data quality impacts results</a:t>
                      </a:r>
                      <a:endParaRPr lang="en-IN" sz="11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2388638"/>
                  </a:ext>
                </a:extLst>
              </a:tr>
              <a:tr h="10131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" panose="020B0004020202020204" pitchFamily="34" charset="0"/>
                        </a:rPr>
                        <a:t>Wahba et al., </a:t>
                      </a:r>
                      <a:r>
                        <a:rPr lang="en-US" sz="1100" i="1" dirty="0">
                          <a:latin typeface="Aptos" panose="020B0004020202020204" pitchFamily="34" charset="0"/>
                        </a:rPr>
                        <a:t>Flash-flood susceptibility mapping using Random Forest</a:t>
                      </a:r>
                      <a:r>
                        <a:rPr lang="en-US" sz="1100" dirty="0">
                          <a:latin typeface="Aptos" panose="020B0004020202020204" pitchFamily="34" charset="0"/>
                        </a:rPr>
                        <a:t> (2024)</a:t>
                      </a:r>
                      <a:endParaRPr lang="en-IN" sz="11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" panose="020B0004020202020204" pitchFamily="34" charset="0"/>
                        </a:rPr>
                        <a:t>Random Forest, GIS predictors, susceptibility maps</a:t>
                      </a:r>
                      <a:endParaRPr lang="en-IN" sz="11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Aptos" panose="020B0004020202020204" pitchFamily="34" charset="0"/>
                        </a:rPr>
                        <a:t>spatial predictors (elevation, land-use, drainage).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9765889"/>
                  </a:ext>
                </a:extLst>
              </a:tr>
              <a:tr h="7273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Aptos" panose="020B0004020202020204" pitchFamily="34" charset="0"/>
                        </a:rPr>
                        <a:t>Albertini et al., </a:t>
                      </a:r>
                      <a:r>
                        <a:rPr lang="en-IN" sz="1100" i="1" dirty="0">
                          <a:latin typeface="Aptos" panose="020B0004020202020204" pitchFamily="34" charset="0"/>
                        </a:rPr>
                        <a:t>Multi-source Random Forest classification of floods</a:t>
                      </a:r>
                      <a:r>
                        <a:rPr lang="en-IN" sz="1100" dirty="0">
                          <a:latin typeface="Aptos" panose="020B0004020202020204" pitchFamily="34" charset="0"/>
                        </a:rPr>
                        <a:t>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Aptos" panose="020B0004020202020204" pitchFamily="34" charset="0"/>
                        </a:rPr>
                        <a:t>RF on multi-source inputs (satellite, </a:t>
                      </a:r>
                      <a:r>
                        <a:rPr lang="fr-FR" sz="1100" dirty="0" err="1">
                          <a:latin typeface="Aptos" panose="020B0004020202020204" pitchFamily="34" charset="0"/>
                        </a:rPr>
                        <a:t>hydromet</a:t>
                      </a:r>
                      <a:r>
                        <a:rPr lang="fr-FR" sz="1100" dirty="0">
                          <a:latin typeface="Aptos" panose="020B0004020202020204" pitchFamily="34" charset="0"/>
                        </a:rPr>
                        <a:t>).</a:t>
                      </a:r>
                      <a:endParaRPr lang="en-IN" sz="11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" panose="020B0004020202020204" pitchFamily="34" charset="0"/>
                        </a:rPr>
                        <a:t>Transferability between regions requires testing</a:t>
                      </a:r>
                      <a:endParaRPr lang="en-IN" sz="11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396975"/>
                  </a:ext>
                </a:extLst>
              </a:tr>
              <a:tr h="7273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" panose="020B0004020202020204" pitchFamily="34" charset="0"/>
                        </a:rPr>
                        <a:t>Tang et al., </a:t>
                      </a:r>
                      <a:r>
                        <a:rPr lang="en-US" sz="1100" i="1" dirty="0">
                          <a:latin typeface="Aptos" panose="020B0004020202020204" pitchFamily="34" charset="0"/>
                        </a:rPr>
                        <a:t>Flood forecasting based on ML patterns</a:t>
                      </a:r>
                      <a:r>
                        <a:rPr lang="en-US" sz="1100" dirty="0">
                          <a:latin typeface="Aptos" panose="020B0004020202020204" pitchFamily="34" charset="0"/>
                        </a:rPr>
                        <a:t> (2023)</a:t>
                      </a:r>
                      <a:endParaRPr lang="en-IN" sz="11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Aptos" panose="020B0004020202020204" pitchFamily="34" charset="0"/>
                        </a:rPr>
                        <a:t>extreme flood events and classify flood risk.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" panose="020B0004020202020204" pitchFamily="34" charset="0"/>
                        </a:rPr>
                        <a:t>Class imbalance challenges for extremes; needs careful sampling.</a:t>
                      </a:r>
                      <a:endParaRPr lang="en-IN" sz="11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29250"/>
                  </a:ext>
                </a:extLst>
              </a:tr>
              <a:tr h="6321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Aptos" panose="020B0004020202020204" pitchFamily="34" charset="0"/>
                        </a:rPr>
                        <a:t>Tang et al., </a:t>
                      </a:r>
                      <a:r>
                        <a:rPr lang="en-US" sz="1100" i="1" dirty="0">
                          <a:latin typeface="Aptos" panose="020B0004020202020204" pitchFamily="34" charset="0"/>
                        </a:rPr>
                        <a:t>Flood forecasting based on ML patterns</a:t>
                      </a:r>
                      <a:r>
                        <a:rPr lang="en-US" sz="1100" dirty="0">
                          <a:latin typeface="Aptos" panose="020B0004020202020204" pitchFamily="34" charset="0"/>
                        </a:rPr>
                        <a:t> (2023)</a:t>
                      </a:r>
                      <a:endParaRPr lang="en-IN" sz="110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Aptos" panose="020B0004020202020204" pitchFamily="34" charset="0"/>
                        </a:rPr>
                        <a:t>Ensemble ML (various classifiers), feature selection, extreme-event focus.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" panose="020B0004020202020204" pitchFamily="34" charset="0"/>
                        </a:rPr>
                        <a:t>Class imbalance challenges for extremes; needs careful sampling</a:t>
                      </a:r>
                      <a:endParaRPr lang="en-IN" sz="11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462784"/>
                  </a:ext>
                </a:extLst>
              </a:tr>
              <a:tr h="68892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>
                          <a:latin typeface="Aptos" panose="020B0004020202020204" pitchFamily="34" charset="0"/>
                        </a:rPr>
                        <a:t>Hirpa</a:t>
                      </a:r>
                      <a:r>
                        <a:rPr lang="en-US" sz="1100" dirty="0">
                          <a:latin typeface="Aptos" panose="020B0004020202020204" pitchFamily="34" charset="0"/>
                        </a:rPr>
                        <a:t> et al., </a:t>
                      </a:r>
                      <a:r>
                        <a:rPr lang="en-US" sz="1100" i="1" dirty="0">
                          <a:latin typeface="Aptos" panose="020B0004020202020204" pitchFamily="34" charset="0"/>
                        </a:rPr>
                        <a:t>Calibration of </a:t>
                      </a:r>
                      <a:r>
                        <a:rPr lang="en-US" sz="1100" i="1" dirty="0" err="1">
                          <a:latin typeface="Aptos" panose="020B0004020202020204" pitchFamily="34" charset="0"/>
                        </a:rPr>
                        <a:t>GloFAS</a:t>
                      </a:r>
                      <a:r>
                        <a:rPr lang="en-US" sz="1100" dirty="0">
                          <a:latin typeface="Aptos" panose="020B0004020202020204" pitchFamily="34" charset="0"/>
                        </a:rPr>
                        <a:t> (2018, </a:t>
                      </a:r>
                      <a:r>
                        <a:rPr lang="en-US" sz="1100" i="1" dirty="0">
                          <a:latin typeface="Aptos" panose="020B0004020202020204" pitchFamily="34" charset="0"/>
                        </a:rPr>
                        <a:t>Journal of Hydrology</a:t>
                      </a:r>
                      <a:r>
                        <a:rPr lang="en-US" sz="1100" dirty="0">
                          <a:latin typeface="Aptos" panose="020B0004020202020204" pitchFamily="34" charset="0"/>
                        </a:rPr>
                        <a:t>)</a:t>
                      </a:r>
                      <a:endParaRPr lang="en-IN" sz="11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" panose="020B0004020202020204" pitchFamily="34" charset="0"/>
                        </a:rPr>
                        <a:t>Hydrological modelling, ensemble streamflow forecasting, evaluation metrics.</a:t>
                      </a:r>
                      <a:endParaRPr lang="en-IN" sz="11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ptos" panose="020B0004020202020204" pitchFamily="34" charset="0"/>
                        </a:rPr>
                        <a:t>Coarse resolution for local/urban flooding; dependent on meteorological inputs.</a:t>
                      </a:r>
                      <a:endParaRPr lang="en-IN" sz="11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872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0279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8CC96-5F11-8ACA-4F30-0B28906A8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4D5E1-D634-3A71-C133-CDCBE27107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312420" indent="-300355" algn="just">
              <a:lnSpc>
                <a:spcPct val="100000"/>
              </a:lnSpc>
              <a:spcBef>
                <a:spcPts val="630"/>
              </a:spcBef>
              <a:buFont typeface="Wingdings"/>
              <a:buChar char=""/>
              <a:tabLst>
                <a:tab pos="313055" algn="l"/>
              </a:tabLst>
            </a:pP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</a:t>
            </a:r>
            <a:r>
              <a:rPr lang="en-US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flood</a:t>
            </a: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</a:t>
            </a: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lang="en-US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</a:p>
          <a:p>
            <a:pPr marL="731520" lvl="1" indent="-318770" algn="just">
              <a:lnSpc>
                <a:spcPct val="100000"/>
              </a:lnSpc>
              <a:spcBef>
                <a:spcPts val="530"/>
              </a:spcBef>
              <a:buFont typeface="Wingdings"/>
              <a:buChar char=""/>
              <a:tabLst>
                <a:tab pos="732155" algn="l"/>
              </a:tabLst>
            </a:pP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Geospatial,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31520" lvl="1" indent="-318770" algn="just">
              <a:lnSpc>
                <a:spcPct val="100000"/>
              </a:lnSpc>
              <a:spcBef>
                <a:spcPts val="525"/>
              </a:spcBef>
              <a:buFont typeface="Wingdings"/>
              <a:buChar char=""/>
              <a:tabLst>
                <a:tab pos="732155" algn="l"/>
              </a:tabLst>
            </a:pP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Meteorological</a:t>
            </a:r>
            <a:r>
              <a:rPr lang="en-US"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hydrological,</a:t>
            </a:r>
            <a:r>
              <a:rPr lang="en-US"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obtained</a:t>
            </a:r>
            <a:r>
              <a:rPr lang="en-US"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GLOFAS,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2940" lvl="1" indent="-250190" algn="just">
              <a:lnSpc>
                <a:spcPct val="100000"/>
              </a:lnSpc>
              <a:spcBef>
                <a:spcPts val="535"/>
              </a:spcBef>
              <a:buFont typeface="Wingdings"/>
              <a:buChar char=""/>
              <a:tabLst>
                <a:tab pos="663575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Crowd</a:t>
            </a:r>
            <a:r>
              <a:rPr lang="en-US"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n-US"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2420" marR="5080" indent="-300355" algn="just">
              <a:lnSpc>
                <a:spcPct val="100000"/>
              </a:lnSpc>
              <a:spcBef>
                <a:spcPts val="525"/>
              </a:spcBef>
              <a:buFont typeface="Wingdings"/>
              <a:buChar char=""/>
              <a:tabLst>
                <a:tab pos="31305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  <a:r>
              <a:rPr lang="en-US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</a:t>
            </a:r>
            <a:r>
              <a:rPr lang="en-US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frame,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lang="en-US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done.</a:t>
            </a:r>
          </a:p>
          <a:p>
            <a:pPr marL="312420" indent="-300355" algn="just">
              <a:lnSpc>
                <a:spcPct val="100000"/>
              </a:lnSpc>
              <a:spcBef>
                <a:spcPts val="530"/>
              </a:spcBef>
              <a:buFont typeface="Wingdings"/>
              <a:buChar char=""/>
              <a:tabLst>
                <a:tab pos="313055" algn="l"/>
                <a:tab pos="439166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r>
              <a:rPr lang="en-US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lang="en-US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 </a:t>
            </a:r>
          </a:p>
          <a:p>
            <a:pPr marL="312420" indent="-300355" algn="just">
              <a:lnSpc>
                <a:spcPct val="100000"/>
              </a:lnSpc>
              <a:spcBef>
                <a:spcPts val="530"/>
              </a:spcBef>
              <a:buFont typeface="Wingdings"/>
              <a:buChar char=""/>
              <a:tabLst>
                <a:tab pos="313055" algn="l"/>
                <a:tab pos="4391660" algn="l"/>
              </a:tabLst>
            </a:pPr>
            <a:endParaRPr lang="en-US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2420" marR="200025" indent="-300355" algn="just">
              <a:lnSpc>
                <a:spcPct val="100000"/>
              </a:lnSpc>
              <a:spcBef>
                <a:spcPts val="530"/>
              </a:spcBef>
              <a:buFont typeface="Wingdings"/>
              <a:buChar char=""/>
              <a:tabLst>
                <a:tab pos="31305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lang="en-US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elucidated</a:t>
            </a: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empirically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</a:t>
            </a: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could</a:t>
            </a:r>
            <a:r>
              <a:rPr lang="en-US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</a:t>
            </a:r>
            <a:r>
              <a:rPr lang="en-US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authorities</a:t>
            </a: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alike</a:t>
            </a:r>
            <a:r>
              <a:rPr lang="en-US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lang="en-US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flood</a:t>
            </a:r>
            <a:r>
              <a:rPr lang="en-US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</a:t>
            </a:r>
            <a:r>
              <a:rPr lang="en-US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ones.</a:t>
            </a:r>
          </a:p>
          <a:p>
            <a:pPr marL="312420" marR="200025" indent="-300355" algn="just">
              <a:lnSpc>
                <a:spcPct val="100000"/>
              </a:lnSpc>
              <a:spcBef>
                <a:spcPts val="530"/>
              </a:spcBef>
              <a:buFont typeface="Wingdings"/>
              <a:buChar char=""/>
              <a:tabLst>
                <a:tab pos="313055" algn="l"/>
              </a:tabLst>
            </a:pPr>
            <a:endParaRPr lang="en-US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2420" marR="355600" indent="-300355" algn="just">
              <a:lnSpc>
                <a:spcPct val="100000"/>
              </a:lnSpc>
              <a:spcBef>
                <a:spcPts val="95"/>
              </a:spcBef>
              <a:buFont typeface="Wingdings"/>
              <a:buChar char=""/>
              <a:tabLst>
                <a:tab pos="31305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lang="en-US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</a:t>
            </a:r>
            <a:r>
              <a:rPr lang="en-US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</a:t>
            </a:r>
            <a:r>
              <a:rPr lang="en-US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</a:t>
            </a:r>
            <a:r>
              <a:rPr lang="en-US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</a:t>
            </a:r>
            <a:r>
              <a:rPr lang="en-US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interfaces,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interoperable</a:t>
            </a:r>
            <a:r>
              <a:rPr lang="en-US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en-US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</a:t>
            </a:r>
            <a:r>
              <a:rPr lang="en-US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</a:t>
            </a:r>
            <a:r>
              <a:rPr lang="en-US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including</a:t>
            </a:r>
            <a:r>
              <a:rPr lang="en-US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2420" indent="-300355" algn="just">
              <a:lnSpc>
                <a:spcPct val="100000"/>
              </a:lnSpc>
              <a:spcBef>
                <a:spcPts val="530"/>
              </a:spcBef>
              <a:buFont typeface="Wingdings"/>
              <a:buChar char=""/>
              <a:tabLst>
                <a:tab pos="313055" algn="l"/>
                <a:tab pos="4391660" algn="l"/>
              </a:tabLst>
            </a:pPr>
            <a:endParaRPr lang="en-US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4689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94F7F-1C9D-F664-1E2C-7116F301D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Existing Methods and Drawbacks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BFDA8-8794-FFBB-1BF7-0370FE968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Physics-based &amp; Statistical Models</a:t>
            </a:r>
            <a:r>
              <a:rPr lang="en-US" dirty="0"/>
              <a:t>– Require heavy calibration, high-quality data, and often fail in ungauged basins or extreme events</a:t>
            </a:r>
          </a:p>
          <a:p>
            <a:r>
              <a:rPr lang="en-IN" b="1" dirty="0"/>
              <a:t>Machine Learning &amp; Deep Learning</a:t>
            </a:r>
            <a:r>
              <a:rPr lang="en-IN" dirty="0"/>
              <a:t> – </a:t>
            </a:r>
            <a:r>
              <a:rPr lang="en-US" dirty="0"/>
              <a:t>High accuracy for short-term forecasts but need large datasets, are computationally expensive, and act as “black boxes.”</a:t>
            </a:r>
          </a:p>
          <a:p>
            <a:r>
              <a:rPr lang="en-US" b="1" dirty="0"/>
              <a:t>Hybrid &amp; GIS/Remote Sensing Approaches</a:t>
            </a:r>
            <a:r>
              <a:rPr lang="en-US" dirty="0"/>
              <a:t> –Improve accuracy but complex to integrate, and most provide susceptibility maps rather than real-time forecasts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2292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52542-70B9-8694-BB94-33F7F1EDB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 &amp; Feasibility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C34B4-FD88-5858-D8A5-D61CF9E060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>
              <a:buFont typeface="Wingdings" pitchFamily="2" charset="2"/>
              <a:buChar char="v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Our Novel Flood Forecasting System based on fusing meteorological, hydrological, geospatial, as well as crowdsourcing data, and integrating them into an ML framework. </a:t>
            </a:r>
          </a:p>
          <a:p>
            <a:pPr algn="just">
              <a:buFont typeface="Wingdings" pitchFamily="2" charset="2"/>
              <a:buChar char="v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v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These data were compiled from various big data platforms, by using online application programming interfaces (API). </a:t>
            </a:r>
          </a:p>
          <a:p>
            <a:pPr algn="just">
              <a:buFont typeface="Wingdings" pitchFamily="2" charset="2"/>
              <a:buChar char="v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v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forecasting mechanism was driven by a machine learning strategy. To determine the most suitable one for the task, several state-of-the-art MLs, i.e., Decision tree, Random forest, Naïve Bayes, Artificial Neural Networks, Support Vector Machine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9411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B6374-36EA-4FF3-96B7-9CB62C1A8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Diagram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BCD5150-D281-C00C-4026-CFFDE8B862FE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02890" y="1525075"/>
            <a:ext cx="9478297" cy="4236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0423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2BA1F-F77F-58F4-3B62-8F9C5E1FD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57C80A-C955-5F4F-C5B1-256366E679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95401" y="2646739"/>
            <a:ext cx="763863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Meteorological, hydrological, geospatial, and crowdsourced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Preprocessing &amp; Storage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Cleaning, validation, integration, and feature storage.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 &amp; Modeling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Physics-based models, ML/DL models, and hybrid fusion.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 &amp; Alerting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 dashboard, maps, and real-time alerts (SMS/Email/Mobile).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Monitoring &amp; Updates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retraining, performance monitoring, and continuous improvement.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910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3BFBD-500C-ADF0-4B10-27048C9BD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Hardware and Software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A2B21-BFCA-7CFC-A4EE-EEE58B8A7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HARDWAER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disk : 50 GB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SOFTWAER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: Windows 8,10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Language : Python 3.10.4,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: </a:t>
            </a:r>
            <a:r>
              <a:rPr lang="en-US" dirty="0"/>
              <a:t>"https://weather.visualcrossing.com”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5610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4B089-5A1B-FABE-BE60-B8EB382E9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Timeline (Gantt Chart)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58959D-A011-47BD-8B99-A48816CA5C0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229033" y="1593901"/>
            <a:ext cx="9035844" cy="4000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860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52B08-C134-1688-F120-CE9ABA6FE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3D23A-25C3-FBE4-B9A3-CBDB53624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52400" indent="0">
              <a:spcBef>
                <a:spcPts val="0"/>
              </a:spcBef>
              <a:buNone/>
            </a:pPr>
            <a:r>
              <a:rPr lang="en-US" b="1" dirty="0">
                <a:latin typeface="Aptos" panose="020B0004020202020204" pitchFamily="34" charset="0"/>
              </a:rPr>
              <a:t>P. Ghorpade, A. Gadge, H. </a:t>
            </a:r>
            <a:r>
              <a:rPr lang="en-US" b="1" dirty="0" err="1">
                <a:latin typeface="Aptos" panose="020B0004020202020204" pitchFamily="34" charset="0"/>
              </a:rPr>
              <a:t>Chordiya</a:t>
            </a:r>
            <a:r>
              <a:rPr lang="en-US" b="1" dirty="0">
                <a:latin typeface="Aptos" panose="020B0004020202020204" pitchFamily="34" charset="0"/>
              </a:rPr>
              <a:t>, B. Hooli, A. Lende, G. Gosavi, Y. S. Ingle, A. Mishra, and N. Shaikh</a:t>
            </a:r>
            <a:r>
              <a:rPr lang="en-US" dirty="0">
                <a:latin typeface="Aptos" panose="020B0004020202020204" pitchFamily="34" charset="0"/>
              </a:rPr>
              <a:t>, “Flood Forecasting Using Machine Learning: A Review,” in </a:t>
            </a:r>
            <a:r>
              <a:rPr lang="en-US" i="1" dirty="0">
                <a:latin typeface="Aptos" panose="020B0004020202020204" pitchFamily="34" charset="0"/>
              </a:rPr>
              <a:t>Proc. 2021 8th International Conference on Smart Computing and Communications </a:t>
            </a:r>
            <a:endParaRPr lang="en-US" dirty="0">
              <a:latin typeface="Aptos" panose="020B0004020202020204" pitchFamily="34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Aptos" panose="020B0004020202020204" pitchFamily="34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b="1" dirty="0">
                <a:latin typeface="Aptos" panose="020B0004020202020204" pitchFamily="34" charset="0"/>
              </a:rPr>
              <a:t>S. Ramasamy, P. Ranjith Kumar, M. Vimala, N. Najmul Sahi, A. Rajesh, and S. Siddharth</a:t>
            </a:r>
            <a:r>
              <a:rPr lang="en-US" dirty="0">
                <a:latin typeface="Aptos" panose="020B0004020202020204" pitchFamily="34" charset="0"/>
              </a:rPr>
              <a:t>, “Flood Prediction Using Supervised Machine Learning Algorithms,” in </a:t>
            </a:r>
            <a:r>
              <a:rPr lang="en-US" i="1" dirty="0">
                <a:latin typeface="Aptos" panose="020B0004020202020204" pitchFamily="34" charset="0"/>
              </a:rPr>
              <a:t>Proc. 2024 5th International Conference on Smart Electronics and Communication</a:t>
            </a:r>
          </a:p>
          <a:p>
            <a:pPr marL="152400" indent="0">
              <a:spcBef>
                <a:spcPts val="0"/>
              </a:spcBef>
              <a:buNone/>
            </a:pPr>
            <a:endParaRPr lang="en-US" i="1" dirty="0">
              <a:latin typeface="Aptos" panose="020B0004020202020204" pitchFamily="34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b="1" dirty="0">
                <a:latin typeface="Aptos" panose="020B0004020202020204" pitchFamily="34" charset="0"/>
              </a:rPr>
              <a:t>J. Gupta</a:t>
            </a:r>
            <a:r>
              <a:rPr lang="en-US" dirty="0">
                <a:latin typeface="Aptos" panose="020B0004020202020204" pitchFamily="34" charset="0"/>
              </a:rPr>
              <a:t>, “AI-Enhanced Flood Warning Systems with IoT Sensors in Urban Zones,” </a:t>
            </a:r>
            <a:r>
              <a:rPr lang="en-US" i="1" dirty="0">
                <a:latin typeface="Aptos" panose="020B0004020202020204" pitchFamily="34" charset="0"/>
              </a:rPr>
              <a:t>International Journal for Research in Applied Science and Engineering Technology</a:t>
            </a:r>
            <a:r>
              <a:rPr lang="en-US" dirty="0">
                <a:latin typeface="Aptos" panose="020B0004020202020204" pitchFamily="34" charset="0"/>
              </a:rPr>
              <a:t>, vol. 6, no. (issue), pp. 73561–73571, 2018, </a:t>
            </a:r>
            <a:r>
              <a:rPr lang="en-US" dirty="0" err="1">
                <a:latin typeface="Aptos" panose="020B0004020202020204" pitchFamily="34" charset="0"/>
              </a:rPr>
              <a:t>doi</a:t>
            </a:r>
            <a:r>
              <a:rPr lang="en-US" dirty="0">
                <a:latin typeface="Aptos" panose="020B0004020202020204" pitchFamily="34" charset="0"/>
              </a:rPr>
              <a:t>: 10.14569/IJACSA.2018.091187. (Published via IEEE Access)</a:t>
            </a:r>
            <a:endParaRPr lang="en-US" dirty="0">
              <a:latin typeface="Aptos" panose="020B0004020202020204" pitchFamily="34" charset="0"/>
              <a:ea typeface="Cambria" panose="020405030504060302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7787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573B01-E6B1-19D2-7871-8A7B1E3C4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427636"/>
      </p:ext>
    </p:extLst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CSE7101-Capstone_Project[2]</Template>
  <TotalTime>110</TotalTime>
  <Words>1117</Words>
  <Application>Microsoft Office PowerPoint</Application>
  <PresentationFormat>Widescreen</PresentationFormat>
  <Paragraphs>123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Cambria</vt:lpstr>
      <vt:lpstr>Times New Roman</vt:lpstr>
      <vt:lpstr>Verdana</vt:lpstr>
      <vt:lpstr>Wingdings</vt:lpstr>
      <vt:lpstr>Bioinformatics</vt:lpstr>
      <vt:lpstr>PowerPoint Presentation</vt:lpstr>
      <vt:lpstr>ABSTRACT</vt:lpstr>
      <vt:lpstr>Literature Survey</vt:lpstr>
      <vt:lpstr>PowerPoint Presentation</vt:lpstr>
      <vt:lpstr>Objectives</vt:lpstr>
      <vt:lpstr>Existing Methods and Drawbacks</vt:lpstr>
      <vt:lpstr>Proposed Method &amp; Feasibility Study</vt:lpstr>
      <vt:lpstr>Architecture Diagram</vt:lpstr>
      <vt:lpstr>Modules</vt:lpstr>
      <vt:lpstr>Hardware and Software Details</vt:lpstr>
      <vt:lpstr>Timeline (Gantt Chart)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Vandan gowda R</dc:creator>
  <cp:lastModifiedBy>Vandan gowda R</cp:lastModifiedBy>
  <cp:revision>2</cp:revision>
  <dcterms:created xsi:type="dcterms:W3CDTF">2025-09-13T04:15:16Z</dcterms:created>
  <dcterms:modified xsi:type="dcterms:W3CDTF">2025-09-13T06:05:59Z</dcterms:modified>
</cp:coreProperties>
</file>