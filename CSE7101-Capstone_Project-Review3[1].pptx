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4" r:id="rId7"/>
    <p:sldId id="275" r:id="rId8"/>
    <p:sldId id="273" r:id="rId9"/>
    <p:sldId id="277" r:id="rId10"/>
    <p:sldId id="278" r:id="rId11"/>
    <p:sldId id="281" r:id="rId12"/>
    <p:sldId id="268" r:id="rId13"/>
    <p:sldId id="270" r:id="rId14"/>
    <p:sldId id="265" r:id="rId15"/>
    <p:sldId id="279"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hyperlink" Target="https://github.com/VandanGowdaR/AI-Based-Real-Time-Flood-Monitoring.git"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IN" sz="3200" dirty="0">
                <a:latin typeface="Times New Roman" panose="02020603050405020304" charset="0"/>
                <a:cs typeface="Times New Roman" panose="02020603050405020304" charset="0"/>
                <a:sym typeface="+mn-ea"/>
              </a:rPr>
              <a:t>“AI-Based Real-Time Flood Monitoring &amp; Forecasting”</a:t>
            </a:r>
            <a:endParaRPr sz="3200" dirty="0">
              <a:solidFill>
                <a:schemeClr val="tx1"/>
              </a:solidFill>
              <a:latin typeface="Times New Roman" panose="02020603050405020304" charset="0"/>
              <a:ea typeface="Cambria" panose="02040503050406030204" pitchFamily="18" charset="0"/>
              <a:cs typeface="Times New Roman" panose="02020603050405020304"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Number:CAI_</a:t>
            </a:r>
            <a:r>
              <a:rPr lang="en-US" altLang="en-GB" sz="1800" dirty="0">
                <a:latin typeface="Cambria" panose="02040503050406030204" pitchFamily="18" charset="0"/>
                <a:ea typeface="Cambria" panose="02040503050406030204" pitchFamily="18" charset="0"/>
              </a:rPr>
              <a:t>3</a:t>
            </a:r>
            <a:endParaRPr lang="en-US" altLang="en-GB" sz="1800" dirty="0">
              <a:latin typeface="Cambria" panose="02040503050406030204" pitchFamily="18" charset="0"/>
              <a:ea typeface="Cambria" panose="02040503050406030204" pitchFamily="18" charset="0"/>
            </a:endParaRPr>
          </a:p>
          <a:p>
            <a:pPr marL="0" lvl="0" indent="0" algn="l" rtl="0">
              <a:spcBef>
                <a:spcPts val="0"/>
              </a:spcBef>
              <a:spcAft>
                <a:spcPts val="0"/>
              </a:spcAft>
              <a:buClr>
                <a:srgbClr val="17365D"/>
              </a:buClr>
              <a:buSzPts val="2000"/>
              <a:buNone/>
            </a:pPr>
            <a:endParaRPr lang="en-US" altLang="en-GB"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lvl="0">
              <a:buClr>
                <a:srgbClr val="17365D"/>
              </a:buClr>
              <a:buSzPts val="2000"/>
            </a:pPr>
            <a:r>
              <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rPr>
              <a:t>Under the Supervision of,</a:t>
            </a:r>
            <a:endParaRPr lang="en-US" sz="1800" dirty="0">
              <a:latin typeface="Times New Roman" panose="02020603050405020304" charset="0"/>
              <a:ea typeface="Cambria" panose="02040503050406030204" pitchFamily="18" charset="0"/>
              <a:cs typeface="Times New Roman" panose="02020603050405020304" charset="0"/>
            </a:endParaRPr>
          </a:p>
          <a:p>
            <a:pPr lvl="0">
              <a:spcBef>
                <a:spcPts val="400"/>
              </a:spcBef>
              <a:buClr>
                <a:srgbClr val="17365D"/>
              </a:buClr>
              <a:buSzPts val="2000"/>
            </a:pPr>
            <a:endPar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endParaRPr>
          </a:p>
          <a:p>
            <a:pPr lvl="0">
              <a:spcBef>
                <a:spcPts val="340"/>
              </a:spcBef>
              <a:buClr>
                <a:srgbClr val="17365D"/>
              </a:buClr>
              <a:buSzPts val="1700"/>
            </a:pPr>
            <a:r>
              <a:rPr lang="en-US" sz="1800" b="1" dirty="0" err="1">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rPr>
              <a:t>Dr.Mohammadi</a:t>
            </a:r>
            <a:r>
              <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rPr>
              <a:t> Akheela Khanum</a:t>
            </a:r>
            <a:endParaRPr lang="en-US" sz="1800" dirty="0">
              <a:latin typeface="Times New Roman" panose="02020603050405020304" charset="0"/>
              <a:ea typeface="Cambria" panose="02040503050406030204" pitchFamily="18" charset="0"/>
              <a:cs typeface="Times New Roman" panose="02020603050405020304" charset="0"/>
            </a:endParaRPr>
          </a:p>
          <a:p>
            <a:pPr lvl="0">
              <a:spcBef>
                <a:spcPts val="340"/>
              </a:spcBef>
              <a:buClr>
                <a:srgbClr val="17365D"/>
              </a:buClr>
              <a:buSzPts val="1700"/>
            </a:pPr>
            <a:r>
              <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rPr>
              <a:t>Professor</a:t>
            </a:r>
            <a:endParaRPr lang="en-US" sz="1800" dirty="0">
              <a:latin typeface="Times New Roman" panose="02020603050405020304" charset="0"/>
              <a:ea typeface="Cambria" panose="02040503050406030204" pitchFamily="18" charset="0"/>
              <a:cs typeface="Times New Roman" panose="02020603050405020304" charset="0"/>
            </a:endParaRPr>
          </a:p>
          <a:p>
            <a:pPr lvl="0">
              <a:spcBef>
                <a:spcPts val="340"/>
              </a:spcBef>
              <a:buClr>
                <a:srgbClr val="17365D"/>
              </a:buClr>
              <a:buSzPts val="1700"/>
            </a:pPr>
            <a:r>
              <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rPr>
              <a:t>School of Computer Science and Engineering</a:t>
            </a:r>
            <a:endParaRPr lang="en-US" sz="1800" dirty="0">
              <a:latin typeface="Times New Roman" panose="02020603050405020304" charset="0"/>
              <a:ea typeface="Cambria" panose="02040503050406030204" pitchFamily="18" charset="0"/>
              <a:cs typeface="Times New Roman" panose="02020603050405020304" charset="0"/>
            </a:endParaRPr>
          </a:p>
          <a:p>
            <a:pPr lvl="0">
              <a:spcBef>
                <a:spcPts val="340"/>
              </a:spcBef>
              <a:buClr>
                <a:srgbClr val="17365D"/>
              </a:buClr>
              <a:buSzPts val="1700"/>
            </a:pPr>
            <a:r>
              <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rPr>
              <a:t>Presidency University</a:t>
            </a:r>
            <a:endParaRPr lang="en-US" sz="1800" dirty="0">
              <a:latin typeface="Times New Roman" panose="02020603050405020304" charset="0"/>
              <a:ea typeface="Cambria" panose="02040503050406030204" pitchFamily="18" charset="0"/>
              <a:cs typeface="Times New Roman" panose="02020603050405020304" charset="0"/>
            </a:endParaRPr>
          </a:p>
          <a:p>
            <a:pPr lvl="0">
              <a:spcBef>
                <a:spcPts val="400"/>
              </a:spcBef>
              <a:buClr>
                <a:srgbClr val="17365D"/>
              </a:buClr>
              <a:buSzPts val="2000"/>
            </a:pPr>
            <a:endParaRPr lang="en-US" sz="1800" b="1"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Times New Roman" panose="02020603050405020304" charset="0"/>
              <a:ea typeface="Cambria" panose="02040503050406030204" pitchFamily="18" charset="0"/>
              <a:cs typeface="Times New Roman" panose="02020603050405020304" charset="0"/>
              <a:sym typeface="Verdana" panose="020B0604030504040204"/>
            </a:endParaRPr>
          </a:p>
        </p:txBody>
      </p:sp>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dirty="0">
                <a:solidFill>
                  <a:schemeClr val="accent1"/>
                </a:solidFill>
                <a:latin typeface="Times New Roman" panose="02020603050405020304" charset="0"/>
                <a:ea typeface="Cambria" panose="02040503050406030204" pitchFamily="18" charset="0"/>
                <a:cs typeface="Times New Roman" panose="02020603050405020304" charset="0"/>
                <a:sym typeface="Verdana" panose="020B0604030504040204"/>
              </a:rPr>
              <a:t>Name of the Program: </a:t>
            </a:r>
            <a:r>
              <a:rPr lang="en-US" sz="1800" b="1" dirty="0" err="1">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rPr>
              <a:t>B.Tech</a:t>
            </a:r>
            <a:r>
              <a:rPr lang="en-US" sz="1800" b="1"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rPr>
              <a:t> Computer Science &amp; Engineering(Artificial Intelligence &amp; Machine Learning)</a:t>
            </a:r>
            <a:endParaRPr lang="en-US" sz="1800" b="1"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endParaRPr>
          </a:p>
          <a:p>
            <a:pPr lvl="0">
              <a:buClr>
                <a:srgbClr val="17365D"/>
              </a:buClr>
              <a:buSzPct val="100000"/>
            </a:pPr>
            <a:r>
              <a:rPr lang="en-US" sz="1800" b="1" dirty="0">
                <a:solidFill>
                  <a:schemeClr val="accent1"/>
                </a:solidFill>
                <a:latin typeface="Times New Roman" panose="02020603050405020304" charset="0"/>
                <a:ea typeface="Cambria" panose="02040503050406030204" pitchFamily="18" charset="0"/>
                <a:cs typeface="Times New Roman" panose="02020603050405020304" charset="0"/>
                <a:sym typeface="Verdana" panose="020B0604030504040204"/>
              </a:rPr>
              <a:t>Name of the </a:t>
            </a:r>
            <a:r>
              <a:rPr lang="en-US" sz="1800" b="1" dirty="0" err="1">
                <a:solidFill>
                  <a:schemeClr val="accent1"/>
                </a:solidFill>
                <a:latin typeface="Times New Roman" panose="02020603050405020304" charset="0"/>
                <a:ea typeface="Cambria" panose="02040503050406030204" pitchFamily="18" charset="0"/>
                <a:cs typeface="Times New Roman" panose="02020603050405020304" charset="0"/>
                <a:sym typeface="Verdana" panose="020B0604030504040204"/>
              </a:rPr>
              <a:t>HoD</a:t>
            </a:r>
            <a:r>
              <a:rPr lang="en-US" sz="1800" b="1" dirty="0">
                <a:solidFill>
                  <a:schemeClr val="accent1"/>
                </a:solidFill>
                <a:latin typeface="Times New Roman" panose="02020603050405020304" charset="0"/>
                <a:ea typeface="Cambria" panose="02040503050406030204" pitchFamily="18" charset="0"/>
                <a:cs typeface="Times New Roman" panose="02020603050405020304" charset="0"/>
                <a:sym typeface="Verdana" panose="020B0604030504040204"/>
              </a:rPr>
              <a:t>: </a:t>
            </a:r>
            <a:r>
              <a:rPr lang="en-US" sz="1800" b="1" dirty="0" err="1">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rPr>
              <a:t>Dr.Zafar</a:t>
            </a:r>
            <a:r>
              <a:rPr lang="en-US" sz="1800" b="1"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rPr>
              <a:t> Ali Khan N</a:t>
            </a:r>
            <a:endParaRPr lang="en-US" sz="1800" b="1" dirty="0">
              <a:solidFill>
                <a:srgbClr val="FF0000"/>
              </a:solidFill>
              <a:latin typeface="Times New Roman" panose="02020603050405020304" charset="0"/>
              <a:ea typeface="Cambria" panose="02040503050406030204" pitchFamily="18" charset="0"/>
              <a:cs typeface="Times New Roman" panose="02020603050405020304" charset="0"/>
              <a:sym typeface="Verdana" panose="020B0604030504040204"/>
            </a:endParaRPr>
          </a:p>
          <a:p>
            <a:pPr lvl="0">
              <a:buClr>
                <a:srgbClr val="17365D"/>
              </a:buClr>
              <a:buSzPct val="100000"/>
            </a:pPr>
            <a:r>
              <a:rPr lang="en-US" sz="1800" b="1" dirty="0">
                <a:solidFill>
                  <a:schemeClr val="accent1"/>
                </a:solidFill>
                <a:latin typeface="Times New Roman" panose="02020603050405020304" charset="0"/>
                <a:ea typeface="Cambria" panose="02040503050406030204" pitchFamily="18" charset="0"/>
                <a:cs typeface="Times New Roman" panose="02020603050405020304" charset="0"/>
                <a:sym typeface="Verdana" panose="020B0604030504040204"/>
              </a:rPr>
              <a:t>Name of the Program Project Coordinator: </a:t>
            </a:r>
            <a:r>
              <a:rPr lang="en-US" sz="1800" b="1"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rPr>
              <a:t>Ms. Suma N G</a:t>
            </a:r>
            <a:endParaRPr lang="en-US" sz="1800" b="1" dirty="0">
              <a:solidFill>
                <a:srgbClr val="FF0000"/>
              </a:solidFill>
              <a:latin typeface="Times New Roman" panose="02020603050405020304" charset="0"/>
              <a:ea typeface="Cambria" panose="02040503050406030204" pitchFamily="18" charset="0"/>
              <a:cs typeface="Times New Roman" panose="02020603050405020304" charset="0"/>
              <a:sym typeface="Verdana" panose="020B0604030504040204"/>
            </a:endParaRPr>
          </a:p>
          <a:p>
            <a:pPr lvl="0">
              <a:buClr>
                <a:srgbClr val="17365D"/>
              </a:buClr>
              <a:buSzPct val="100000"/>
            </a:pPr>
            <a:r>
              <a:rPr lang="en-US" sz="1800" b="1" dirty="0">
                <a:solidFill>
                  <a:schemeClr val="accent1"/>
                </a:solidFill>
                <a:latin typeface="Times New Roman" panose="02020603050405020304" charset="0"/>
                <a:ea typeface="Cambria" panose="02040503050406030204" pitchFamily="18" charset="0"/>
                <a:cs typeface="Times New Roman" panose="02020603050405020304" charset="0"/>
                <a:sym typeface="Verdana" panose="020B0604030504040204"/>
              </a:rPr>
              <a:t>Name of the School Project Coordinators: </a:t>
            </a:r>
            <a:r>
              <a:rPr lang="en-US" sz="1800" b="1"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rPr>
              <a:t>Dr. Sampath A K , Dr. Geetha A </a:t>
            </a:r>
            <a:endParaRPr lang="en-US" sz="1800" b="1"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endParaRPr>
          </a:p>
          <a:p>
            <a:pPr marL="0" marR="0" lvl="0" indent="0" rtl="0">
              <a:spcBef>
                <a:spcPts val="0"/>
              </a:spcBef>
              <a:spcAft>
                <a:spcPts val="0"/>
              </a:spcAft>
              <a:buClr>
                <a:srgbClr val="17365D"/>
              </a:buClr>
              <a:buSzPct val="100000"/>
              <a:buFont typeface="Arial" panose="020B0604020202020204"/>
              <a:buNone/>
            </a:pPr>
            <a:endParaRPr sz="1800" b="1" i="0" u="none" strike="noStrike" cap="none" dirty="0">
              <a:solidFill>
                <a:schemeClr val="tx1"/>
              </a:solidFill>
              <a:latin typeface="Times New Roman" panose="02020603050405020304" charset="0"/>
              <a:ea typeface="Cambria" panose="02040503050406030204" pitchFamily="18" charset="0"/>
              <a:cs typeface="Times New Roman" panose="02020603050405020304" charset="0"/>
              <a:sym typeface="Verdana" panose="020B0604030504040204"/>
            </a:endParaRPr>
          </a:p>
        </p:txBody>
      </p:sp>
      <p:graphicFrame>
        <p:nvGraphicFramePr>
          <p:cNvPr id="2" name="Table 1"/>
          <p:cNvGraphicFramePr>
            <a:graphicFrameLocks noGrp="1"/>
          </p:cNvGraphicFramePr>
          <p:nvPr/>
        </p:nvGraphicFramePr>
        <p:xfrm>
          <a:off x="197505" y="2726690"/>
          <a:ext cx="6027270" cy="1112520"/>
        </p:xfrm>
        <a:graphic>
          <a:graphicData uri="http://schemas.openxmlformats.org/drawingml/2006/table">
            <a:tbl>
              <a:tblPr firstRow="1" bandRow="1"/>
              <a:tblGrid>
                <a:gridCol w="3013635"/>
                <a:gridCol w="3013635"/>
              </a:tblGrid>
              <a:tr h="370840">
                <a:tc>
                  <a:txBody>
                    <a:bodyPr/>
                    <a:lstStyle/>
                    <a:p>
                      <a:pPr algn="ctr"/>
                      <a:r>
                        <a:rPr lang="en-US" dirty="0">
                          <a:latin typeface="Times New Roman" panose="02020603050405020304" charset="0"/>
                          <a:cs typeface="Times New Roman" panose="02020603050405020304" charset="0"/>
                        </a:rPr>
                        <a:t>Roll Number</a:t>
                      </a:r>
                      <a:endParaRPr lang="en-US" dirty="0">
                        <a:latin typeface="Times New Roman" panose="02020603050405020304" charset="0"/>
                        <a:cs typeface="Times New Roman" panose="02020603050405020304" charset="0"/>
                      </a:endParaRPr>
                    </a:p>
                  </a:txBody>
                  <a:tcPr/>
                </a:tc>
                <a:tc>
                  <a:txBody>
                    <a:bodyPr/>
                    <a:lstStyle/>
                    <a:p>
                      <a:pPr algn="ctr"/>
                      <a:r>
                        <a:rPr lang="en-US" dirty="0">
                          <a:latin typeface="Times New Roman" panose="02020603050405020304" charset="0"/>
                          <a:cs typeface="Times New Roman" panose="02020603050405020304" charset="0"/>
                        </a:rPr>
                        <a:t>Name</a:t>
                      </a:r>
                      <a:endParaRPr lang="en-US" dirty="0">
                        <a:latin typeface="Times New Roman" panose="02020603050405020304" charset="0"/>
                        <a:cs typeface="Times New Roman" panose="02020603050405020304" charset="0"/>
                      </a:endParaRPr>
                    </a:p>
                  </a:txBody>
                  <a:tcPr/>
                </a:tc>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dirty="0">
                          <a:latin typeface="Times New Roman" panose="02020603050405020304" charset="0"/>
                          <a:cs typeface="Times New Roman" panose="02020603050405020304" charset="0"/>
                        </a:rPr>
                        <a:t>20231CAI3009</a:t>
                      </a:r>
                      <a:endParaRPr lang="en-IN" dirty="0">
                        <a:latin typeface="Times New Roman" panose="02020603050405020304" charset="0"/>
                        <a:cs typeface="Times New Roman" panose="020206030504050203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dirty="0">
                          <a:latin typeface="Times New Roman" panose="02020603050405020304" charset="0"/>
                          <a:cs typeface="Times New Roman" panose="02020603050405020304" charset="0"/>
                        </a:rPr>
                        <a:t>VANDAN GOWDA R</a:t>
                      </a:r>
                      <a:endParaRPr lang="en-IN" dirty="0">
                        <a:latin typeface="Times New Roman" panose="02020603050405020304" charset="0"/>
                        <a:cs typeface="Times New Roman" panose="02020603050405020304" charset="0"/>
                      </a:endParaRPr>
                    </a:p>
                  </a:txBody>
                  <a:tcPr/>
                </a:tc>
              </a:tr>
              <a:tr h="370840">
                <a:tc>
                  <a:txBody>
                    <a:bodyPr/>
                    <a:lstStyle/>
                    <a:p>
                      <a:pPr algn="ctr"/>
                      <a:r>
                        <a:rPr lang="en-IN" dirty="0">
                          <a:latin typeface="Times New Roman" panose="02020603050405020304" charset="0"/>
                          <a:cs typeface="Times New Roman" panose="02020603050405020304" charset="0"/>
                        </a:rPr>
                        <a:t>20221CAI0118</a:t>
                      </a:r>
                      <a:endParaRPr lang="en-IN" dirty="0">
                        <a:latin typeface="Times New Roman" panose="02020603050405020304" charset="0"/>
                        <a:cs typeface="Times New Roman" panose="02020603050405020304"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dirty="0">
                          <a:latin typeface="Times New Roman" panose="02020603050405020304" charset="0"/>
                          <a:cs typeface="Times New Roman" panose="02020603050405020304" charset="0"/>
                        </a:rPr>
                        <a:t>VAISHNAVI SALUNKE</a:t>
                      </a:r>
                      <a:endParaRPr lang="en-IN" dirty="0">
                        <a:latin typeface="Times New Roman" panose="02020603050405020304" charset="0"/>
                        <a:cs typeface="Times New Roman" panose="02020603050405020304" charset="0"/>
                      </a:endParaRPr>
                    </a:p>
                  </a:txBody>
                  <a:tcPr/>
                </a:tc>
              </a:tr>
              <a:tr h="370840">
                <a:tc>
                  <a:txBody>
                    <a:bodyPr/>
                    <a:p>
                      <a:pPr algn="ctr"/>
                      <a:r>
                        <a:rPr lang="en-IN" dirty="0">
                          <a:latin typeface="Times New Roman" panose="02020603050405020304" charset="0"/>
                          <a:cs typeface="Times New Roman" panose="02020603050405020304" charset="0"/>
                        </a:rPr>
                        <a:t>20221CAI0112</a:t>
                      </a:r>
                      <a:endParaRPr lang="en-IN" dirty="0">
                        <a:latin typeface="Times New Roman" panose="02020603050405020304" charset="0"/>
                        <a:cs typeface="Times New Roman" panose="02020603050405020304" charset="0"/>
                      </a:endParaRPr>
                    </a:p>
                  </a:txBody>
                  <a:tcPr/>
                </a:tc>
                <a:tc>
                  <a:txBody>
                    <a:bodyPr/>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dirty="0">
                          <a:latin typeface="Times New Roman" panose="02020603050405020304" charset="0"/>
                          <a:cs typeface="Times New Roman" panose="02020603050405020304" charset="0"/>
                        </a:rPr>
                        <a:t>ANUSHA H G</a:t>
                      </a:r>
                      <a:endParaRPr lang="en-IN" dirty="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53218"/>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Problem Statement</a:t>
            </a:r>
            <a:endParaRPr lang="en-US" sz="2000" dirty="0">
              <a:latin typeface="Times New Roman" panose="02020603050405020304" charset="0"/>
              <a:ea typeface="Cambria" panose="02040503050406030204" pitchFamily="18" charset="0"/>
              <a:cs typeface="Times New Roman" panose="02020603050405020304" charset="0"/>
            </a:endParaRPr>
          </a:p>
          <a:p>
            <a:pPr marL="495300" indent="-342900" algn="just">
              <a:lnSpc>
                <a:spcPct val="200000"/>
              </a:lnSpc>
              <a:spcBef>
                <a:spcPts val="0"/>
              </a:spcBef>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Objectives</a:t>
            </a:r>
            <a:endParaRPr lang="en-US" sz="2000" dirty="0">
              <a:latin typeface="Times New Roman" panose="02020603050405020304" charset="0"/>
              <a:ea typeface="Cambria" panose="02040503050406030204" pitchFamily="18" charset="0"/>
              <a:cs typeface="Times New Roman" panose="02020603050405020304" charset="0"/>
            </a:endParaRPr>
          </a:p>
          <a:p>
            <a:pPr marL="495300" indent="-342900" algn="just">
              <a:lnSpc>
                <a:spcPct val="200000"/>
              </a:lnSpc>
              <a:spcBef>
                <a:spcPts val="0"/>
              </a:spcBef>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Background and Related work for title Selection</a:t>
            </a: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a:lnSpc>
                <a:spcPct val="200000"/>
              </a:lnSpc>
              <a:spcBef>
                <a:spcPts val="0"/>
              </a:spcBef>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Analysis of Problem Statement</a:t>
            </a: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a:lnSpc>
                <a:spcPct val="200000"/>
              </a:lnSpc>
              <a:spcBef>
                <a:spcPts val="0"/>
              </a:spcBef>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Innovation or Novel Contributions</a:t>
            </a:r>
            <a:endParaRPr lang="en-US" sz="2000" dirty="0">
              <a:latin typeface="Times New Roman" panose="02020603050405020304" charset="0"/>
              <a:ea typeface="Cambria" panose="02040503050406030204" pitchFamily="18" charset="0"/>
              <a:cs typeface="Times New Roman" panose="02020603050405020304" charset="0"/>
            </a:endParaRPr>
          </a:p>
          <a:p>
            <a:pPr marL="495300" indent="-342900" algn="just">
              <a:lnSpc>
                <a:spcPct val="200000"/>
              </a:lnSpc>
              <a:spcBef>
                <a:spcPts val="0"/>
              </a:spcBef>
              <a:buFont typeface="Arial" panose="020B0604020202020204" pitchFamily="34" charset="0"/>
              <a:buChar char="•"/>
            </a:pPr>
            <a:r>
              <a:rPr lang="en-US" sz="2000" dirty="0" err="1">
                <a:latin typeface="Times New Roman" panose="02020603050405020304" charset="0"/>
                <a:ea typeface="Cambria" panose="02040503050406030204" pitchFamily="18" charset="0"/>
                <a:cs typeface="Times New Roman" panose="02020603050405020304" charset="0"/>
              </a:rPr>
              <a:t>Git</a:t>
            </a:r>
            <a:r>
              <a:rPr lang="en-US" sz="2000" dirty="0">
                <a:latin typeface="Times New Roman" panose="02020603050405020304" charset="0"/>
                <a:ea typeface="Cambria" panose="02040503050406030204" pitchFamily="18" charset="0"/>
                <a:cs typeface="Times New Roman" panose="02020603050405020304" charset="0"/>
              </a:rPr>
              <a:t>-hub Link</a:t>
            </a: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Timeline of the Project</a:t>
            </a: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000" dirty="0">
                <a:latin typeface="Times New Roman" panose="02020603050405020304" charset="0"/>
                <a:ea typeface="Cambria" panose="02040503050406030204" pitchFamily="18" charset="0"/>
                <a:cs typeface="Times New Roman" panose="02020603050405020304" charset="0"/>
              </a:rPr>
              <a:t>References</a:t>
            </a: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0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Statement :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20000"/>
          </a:bodyPr>
          <a:lstStyle/>
          <a:p>
            <a:pPr marL="342900" lvl="0" indent="-190500" algn="just">
              <a:spcBef>
                <a:spcPts val="0"/>
              </a:spcBef>
              <a:buNone/>
            </a:pPr>
            <a:r>
              <a:rPr lang="en-US" b="1" dirty="0">
                <a:latin typeface="Times New Roman" panose="02020603050405020304" charset="0"/>
                <a:ea typeface="Cambria" panose="02040503050406030204" pitchFamily="18" charset="0"/>
                <a:cs typeface="Times New Roman" panose="02020603050405020304" charset="0"/>
                <a:sym typeface="+mn-ea"/>
              </a:rPr>
              <a:t>Organization: </a:t>
            </a:r>
            <a:endParaRPr lang="en-US" b="1" dirty="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r>
              <a:rPr lang="en-US" sz="2200" dirty="0">
                <a:latin typeface="Times New Roman" panose="02020603050405020304" charset="0"/>
                <a:ea typeface="Cambria" panose="02040503050406030204" pitchFamily="18" charset="0"/>
                <a:cs typeface="Times New Roman" panose="02020603050405020304" charset="0"/>
                <a:sym typeface="+mn-ea"/>
              </a:rPr>
              <a:t>Presidency university</a:t>
            </a:r>
            <a:endParaRPr lang="en-US" sz="2200" dirty="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endParaRPr lang="en-US" dirty="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r>
              <a:rPr lang="en-IN" b="1" dirty="0">
                <a:latin typeface="Times New Roman" panose="02020603050405020304" charset="0"/>
                <a:cs typeface="Times New Roman" panose="02020603050405020304" charset="0"/>
                <a:sym typeface="+mn-ea"/>
              </a:rPr>
              <a:t>Category(Software):</a:t>
            </a:r>
            <a:endParaRPr lang="en-US" b="1" dirty="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r>
              <a:rPr lang="en-US" sz="2200" b="1" dirty="0">
                <a:latin typeface="Times New Roman" panose="02020603050405020304" charset="0"/>
                <a:cs typeface="Times New Roman" panose="02020603050405020304" charset="0"/>
                <a:sym typeface="+mn-ea"/>
              </a:rPr>
              <a:t>Software</a:t>
            </a:r>
            <a:r>
              <a:rPr lang="en-US" sz="2200" dirty="0">
                <a:latin typeface="Times New Roman" panose="02020603050405020304" charset="0"/>
                <a:cs typeface="Times New Roman" panose="02020603050405020304" charset="0"/>
                <a:sym typeface="+mn-ea"/>
              </a:rPr>
              <a:t> (AI, ML, Web Technology)</a:t>
            </a:r>
            <a:endParaRPr lang="en-US" sz="2200" dirty="0">
              <a:latin typeface="Times New Roman" panose="02020603050405020304" charset="0"/>
              <a:cs typeface="Times New Roman" panose="02020603050405020304" charset="0"/>
            </a:endParaRPr>
          </a:p>
          <a:p>
            <a:pPr marL="342900" lvl="0" indent="-190500" algn="just">
              <a:spcBef>
                <a:spcPts val="0"/>
              </a:spcBef>
              <a:buNone/>
            </a:pPr>
            <a:endParaRPr lang="en-US" dirty="0">
              <a:latin typeface="Times New Roman" panose="02020603050405020304" charset="0"/>
              <a:cs typeface="Times New Roman" panose="02020603050405020304" charset="0"/>
            </a:endParaRPr>
          </a:p>
          <a:p>
            <a:pPr marL="342900" lvl="0" indent="-190500" algn="just">
              <a:spcBef>
                <a:spcPts val="0"/>
              </a:spcBef>
              <a:buNone/>
            </a:pPr>
            <a:r>
              <a:rPr lang="en-US" b="1" dirty="0">
                <a:latin typeface="Times New Roman" panose="02020603050405020304" charset="0"/>
                <a:ea typeface="Cambria" panose="02040503050406030204" pitchFamily="18" charset="0"/>
                <a:cs typeface="Times New Roman" panose="02020603050405020304" charset="0"/>
                <a:sym typeface="+mn-ea"/>
              </a:rPr>
              <a:t>Problem Description:</a:t>
            </a:r>
            <a:endParaRPr lang="en-US" b="1" dirty="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endParaRPr lang="en-US" altLang="en-GB" dirty="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r>
              <a:rPr lang="en-US" altLang="en-GB" sz="2200" dirty="0">
                <a:latin typeface="Times New Roman" panose="02020603050405020304" charset="0"/>
                <a:ea typeface="Cambria" panose="02040503050406030204" pitchFamily="18" charset="0"/>
                <a:cs typeface="Times New Roman" panose="02020603050405020304" charset="0"/>
                <a:sym typeface="+mn-ea"/>
              </a:rPr>
              <a:t>This problem statement focuses on applying artificial intelligence or machine learning algorithms to automate tasks, enhance decision-making, and provide predictive analytics in fields such as public services, agriculture, health,</a:t>
            </a:r>
            <a:r>
              <a:rPr lang="en-US" altLang="en-US" sz="2200" dirty="0">
                <a:latin typeface="Times New Roman" panose="02020603050405020304" charset="0"/>
                <a:ea typeface="Cambria" panose="02040503050406030204" pitchFamily="18" charset="0"/>
                <a:cs typeface="Times New Roman" panose="02020603050405020304" charset="0"/>
                <a:sym typeface="+mn-ea"/>
              </a:rPr>
              <a:t> </a:t>
            </a:r>
            <a:r>
              <a:rPr lang="en-US" altLang="en-GB" sz="2200" dirty="0">
                <a:latin typeface="Times New Roman" panose="02020603050405020304" charset="0"/>
                <a:ea typeface="Cambria" panose="02040503050406030204" pitchFamily="18" charset="0"/>
                <a:cs typeface="Times New Roman" panose="02020603050405020304" charset="0"/>
                <a:sym typeface="+mn-ea"/>
              </a:rPr>
              <a:t>or</a:t>
            </a:r>
            <a:r>
              <a:rPr lang="en-US" altLang="en-US" sz="2200" dirty="0">
                <a:latin typeface="Times New Roman" panose="02020603050405020304" charset="0"/>
                <a:ea typeface="Cambria" panose="02040503050406030204" pitchFamily="18" charset="0"/>
                <a:cs typeface="Times New Roman" panose="02020603050405020304" charset="0"/>
                <a:sym typeface="+mn-ea"/>
              </a:rPr>
              <a:t> </a:t>
            </a:r>
            <a:r>
              <a:rPr lang="en-US" altLang="en-GB" sz="2200" dirty="0">
                <a:latin typeface="Times New Roman" panose="02020603050405020304" charset="0"/>
                <a:ea typeface="Cambria" panose="02040503050406030204" pitchFamily="18" charset="0"/>
                <a:cs typeface="Times New Roman" panose="02020603050405020304" charset="0"/>
                <a:sym typeface="+mn-ea"/>
              </a:rPr>
              <a:t>utilities.</a:t>
            </a:r>
            <a:endParaRPr lang="en-US" altLang="en-GB" sz="2200" dirty="0">
              <a:latin typeface="Times New Roman" panose="02020603050405020304" charset="0"/>
              <a:ea typeface="Cambria" panose="02040503050406030204" pitchFamily="18" charset="0"/>
              <a:cs typeface="Times New Roman" panose="02020603050405020304" charset="0"/>
            </a:endParaRPr>
          </a:p>
          <a:p>
            <a:pPr marL="0" lvl="0" indent="0" algn="just" eaLnBrk="0" fontAlgn="base" hangingPunct="0">
              <a:spcBef>
                <a:spcPct val="0"/>
              </a:spcBef>
              <a:spcAft>
                <a:spcPct val="0"/>
              </a:spcAft>
              <a:buClrTx/>
              <a:buSzTx/>
              <a:buNone/>
            </a:pPr>
            <a:endParaRPr lang="en-US" altLang="en-US" sz="2200" dirty="0">
              <a:solidFill>
                <a:schemeClr val="tx1"/>
              </a:solidFill>
              <a:latin typeface="Times New Roman" panose="02020603050405020304" charset="0"/>
              <a:cs typeface="Times New Roman" panose="02020603050405020304" charset="0"/>
            </a:endParaRPr>
          </a:p>
          <a:p>
            <a:pPr marL="0" lvl="0" indent="0" algn="just" eaLnBrk="0" fontAlgn="base" hangingPunct="0">
              <a:spcBef>
                <a:spcPct val="0"/>
              </a:spcBef>
              <a:spcAft>
                <a:spcPct val="0"/>
              </a:spcAft>
              <a:buClrTx/>
              <a:buSzTx/>
              <a:buFontTx/>
              <a:buNone/>
            </a:pPr>
            <a:r>
              <a:rPr lang="en-US" altLang="en-US" sz="2200" dirty="0">
                <a:solidFill>
                  <a:schemeClr val="tx1"/>
                </a:solidFill>
                <a:latin typeface="Times New Roman" panose="02020603050405020304" charset="0"/>
                <a:cs typeface="Times New Roman" panose="02020603050405020304" charset="0"/>
                <a:sym typeface="+mn-ea"/>
              </a:rPr>
              <a:t>     There is a need for an </a:t>
            </a:r>
            <a:r>
              <a:rPr lang="en-US" altLang="en-US" sz="2200" b="1" dirty="0">
                <a:solidFill>
                  <a:schemeClr val="tx1"/>
                </a:solidFill>
                <a:latin typeface="Times New Roman" panose="02020603050405020304" charset="0"/>
                <a:cs typeface="Times New Roman" panose="02020603050405020304" charset="0"/>
                <a:sym typeface="+mn-ea"/>
              </a:rPr>
              <a:t>ML-based system</a:t>
            </a:r>
            <a:r>
              <a:rPr lang="en-US" altLang="en-US" sz="2200" dirty="0">
                <a:solidFill>
                  <a:schemeClr val="tx1"/>
                </a:solidFill>
                <a:latin typeface="Times New Roman" panose="02020603050405020304" charset="0"/>
                <a:cs typeface="Times New Roman" panose="02020603050405020304" charset="0"/>
                <a:sym typeface="+mn-ea"/>
              </a:rPr>
              <a:t> that integrates meteorological and hydrological data with machine learning models to provide </a:t>
            </a:r>
            <a:r>
              <a:rPr lang="en-US" altLang="en-US" sz="2200" b="1" dirty="0">
                <a:solidFill>
                  <a:schemeClr val="tx1"/>
                </a:solidFill>
                <a:latin typeface="Times New Roman" panose="02020603050405020304" charset="0"/>
                <a:cs typeface="Times New Roman" panose="02020603050405020304" charset="0"/>
                <a:sym typeface="+mn-ea"/>
              </a:rPr>
              <a:t>real-time flood forecasting, early warning, and decision support</a:t>
            </a:r>
            <a:r>
              <a:rPr lang="en-US" altLang="en-US" sz="2200" dirty="0">
                <a:solidFill>
                  <a:schemeClr val="tx1"/>
                </a:solidFill>
                <a:latin typeface="Times New Roman" panose="02020603050405020304" charset="0"/>
                <a:cs typeface="Times New Roman" panose="02020603050405020304" charset="0"/>
                <a:sym typeface="+mn-ea"/>
              </a:rPr>
              <a:t> for effective disaster management.</a:t>
            </a:r>
            <a:endParaRPr lang="en-US" altLang="en-US" sz="2200" dirty="0">
              <a:solidFill>
                <a:schemeClr val="tx1"/>
              </a:solidFill>
              <a:latin typeface="Times New Roman" panose="02020603050405020304" charset="0"/>
              <a:cs typeface="Times New Roman" panose="02020603050405020304" charset="0"/>
            </a:endParaRPr>
          </a:p>
          <a:p>
            <a:pPr marL="342900" lvl="0" indent="-190500" algn="just">
              <a:spcBef>
                <a:spcPts val="0"/>
              </a:spcBef>
              <a:buNone/>
            </a:pPr>
            <a:endParaRPr lang="en-US" sz="22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74499"/>
            <a:ext cx="10668000" cy="487500"/>
          </a:xfrm>
        </p:spPr>
        <p:txBody>
          <a:bodyPr/>
          <a:lstStyle/>
          <a:p>
            <a:r>
              <a:rPr lang="en-US" dirty="0">
                <a:latin typeface="Cambria" panose="02040503050406030204" pitchFamily="18" charset="0"/>
                <a:ea typeface="Cambria" panose="02040503050406030204" pitchFamily="18" charset="0"/>
              </a:rPr>
              <a:t>Objectives</a:t>
            </a:r>
            <a:r>
              <a:rPr lang="en-US" dirty="0"/>
              <a:t>:</a:t>
            </a:r>
            <a:endParaRPr lang="en-IN" dirty="0"/>
          </a:p>
        </p:txBody>
      </p:sp>
      <p:sp>
        <p:nvSpPr>
          <p:cNvPr id="3" name="Text Box 2"/>
          <p:cNvSpPr txBox="1"/>
          <p:nvPr/>
        </p:nvSpPr>
        <p:spPr>
          <a:xfrm>
            <a:off x="364490" y="987425"/>
            <a:ext cx="11176000" cy="5507990"/>
          </a:xfrm>
          <a:prstGeom prst="rect">
            <a:avLst/>
          </a:prstGeom>
          <a:noFill/>
        </p:spPr>
        <p:txBody>
          <a:bodyPr wrap="square" rtlCol="0">
            <a:spAutoFit/>
          </a:bodyPr>
          <a:p>
            <a:r>
              <a:rPr lang="en-US" altLang="en-GB" sz="2200">
                <a:latin typeface="Times New Roman" panose="02020603050405020304" charset="0"/>
                <a:cs typeface="Times New Roman" panose="02020603050405020304" charset="0"/>
              </a:rPr>
              <a:t>1.Develop a Machine-Learning Flood Predictor</a:t>
            </a:r>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Build and train a Random Forest model to estimate flood risk using weather and hydrology features.</a:t>
            </a:r>
            <a:endParaRPr lang="en-US" altLang="en-GB" sz="2200">
              <a:latin typeface="Times New Roman" panose="02020603050405020304" charset="0"/>
              <a:cs typeface="Times New Roman" panose="02020603050405020304" charset="0"/>
            </a:endParaRPr>
          </a:p>
          <a:p>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2.Use Real-Time Weather Data</a:t>
            </a:r>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Integrate live meteorological information from the OpenWeatherMap API.</a:t>
            </a:r>
            <a:endParaRPr lang="en-US" altLang="en-GB" sz="2200">
              <a:latin typeface="Times New Roman" panose="02020603050405020304" charset="0"/>
              <a:cs typeface="Times New Roman" panose="02020603050405020304" charset="0"/>
            </a:endParaRPr>
          </a:p>
          <a:p>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3.Provide a Web Monitoring Platform</a:t>
            </a:r>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Create a Flask-based dashboard and REST API to display and share risk levels.</a:t>
            </a:r>
            <a:endParaRPr lang="en-US" altLang="en-GB" sz="2200">
              <a:latin typeface="Times New Roman" panose="02020603050405020304" charset="0"/>
              <a:cs typeface="Times New Roman" panose="02020603050405020304" charset="0"/>
            </a:endParaRPr>
          </a:p>
          <a:p>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4.Enable Continuous Monitoring</a:t>
            </a:r>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Support automated, 24/7 data polling for real-time alerts.</a:t>
            </a:r>
            <a:endParaRPr lang="en-US" altLang="en-GB" sz="2200">
              <a:latin typeface="Times New Roman" panose="02020603050405020304" charset="0"/>
              <a:cs typeface="Times New Roman" panose="02020603050405020304" charset="0"/>
            </a:endParaRPr>
          </a:p>
          <a:p>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5.Design for Modularity and Expansion</a:t>
            </a:r>
            <a:endParaRPr lang="en-US" altLang="en-GB" sz="2200">
              <a:latin typeface="Times New Roman" panose="02020603050405020304" charset="0"/>
              <a:cs typeface="Times New Roman" panose="02020603050405020304" charset="0"/>
            </a:endParaRPr>
          </a:p>
          <a:p>
            <a:r>
              <a:rPr lang="en-US" altLang="en-GB" sz="2200">
                <a:latin typeface="Times New Roman" panose="02020603050405020304" charset="0"/>
                <a:cs typeface="Times New Roman" panose="02020603050405020304" charset="0"/>
              </a:rPr>
              <a:t>Keep data ingestion, model inference, and presentation layers independent for easy future upgrades.</a:t>
            </a:r>
            <a:endParaRPr lang="en-GB" altLang="en-US" sz="22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Background and Related work for title Selection:</a:t>
            </a:r>
            <a:br>
              <a:rPr lang="en-US"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normAutofit fontScale="40000"/>
          </a:bodyPr>
          <a:lstStyle/>
          <a:p>
            <a:r>
              <a:rPr lang="en-US" altLang="en-GB" sz="5500" dirty="0">
                <a:latin typeface="Times New Roman" panose="02020603050405020304" charset="0"/>
                <a:cs typeface="Times New Roman" panose="02020603050405020304" charset="0"/>
              </a:rPr>
              <a:t>Floods represent one of the most recurring and devastating natural disasters that humanity faces. They occur in almost every part of the world, ranging from urban flash floods to large-scale riverine inundations, and their impacts are felt across economic, social, and environmental dimensions. According to the United Nations Office for Disaster Risk Reduction (UNDRR), floods account for nearly 45% of all weather-related disasters worldwide. Over the past two decades, floods have affected more than 2.3 billion people, caused the loss of over 157,000 lives, and inflicted trillions of dollars in economic damage. In India, floods are a seasonal phenomenon during the monsoon, yet their severity is increasing year after year. Reports from the Central Water Commission (CWC) indicate that nearly 12% of India’s land area is flood-prone, and the average annual loss due to floods is estimated to be more than </a:t>
            </a:r>
            <a:r>
              <a:rPr lang="en-US" altLang="en-US" sz="5500" dirty="0">
                <a:latin typeface="Times New Roman" panose="02020603050405020304" charset="0"/>
                <a:cs typeface="Times New Roman" panose="02020603050405020304" charset="0"/>
              </a:rPr>
              <a:t>₹</a:t>
            </a:r>
            <a:r>
              <a:rPr lang="en-US" altLang="en-GB" sz="5500" dirty="0">
                <a:latin typeface="Times New Roman" panose="02020603050405020304" charset="0"/>
                <a:cs typeface="Times New Roman" panose="02020603050405020304" charset="0"/>
              </a:rPr>
              <a:t>6,000 crores (≈750 million USD). These alarming statistics demonstrate that effective flood risk management is not a luxury but a necessity for safeguarding human lives and infrastructure.</a:t>
            </a:r>
            <a:endParaRPr lang="en-US" altLang="en-GB" sz="55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52536"/>
            <a:ext cx="10668000" cy="4953000"/>
          </a:xfrm>
          <a:prstGeom prst="rect">
            <a:avLst/>
          </a:prstGeom>
          <a:noFill/>
          <a:ln>
            <a:noFill/>
          </a:ln>
        </p:spPr>
        <p:txBody>
          <a:bodyPr spcFirstLastPara="1" wrap="square" lIns="91425" tIns="45700" rIns="91425" bIns="45700" anchor="t" anchorCtr="0">
            <a:noAutofit/>
          </a:bodyPr>
          <a:lstStyle/>
          <a:p>
            <a:pPr marL="342900" lvl="0" indent="-190500" algn="just" rtl="0">
              <a:lnSpc>
                <a:spcPct val="100000"/>
              </a:lnSpc>
              <a:spcBef>
                <a:spcPts val="0"/>
              </a:spcBef>
              <a:spcAft>
                <a:spcPts val="0"/>
              </a:spcAft>
              <a:buClr>
                <a:schemeClr val="dk1"/>
              </a:buClr>
              <a:buSzPct val="100000"/>
              <a:buNone/>
            </a:pPr>
            <a:r>
              <a:rPr lang="en-US" altLang="en-GB" sz="2000" dirty="0">
                <a:latin typeface="Times New Roman" panose="02020603050405020304" charset="0"/>
                <a:ea typeface="Cambria" panose="02040503050406030204" pitchFamily="18" charset="0"/>
                <a:cs typeface="Times New Roman" panose="02020603050405020304" charset="0"/>
              </a:rPr>
              <a:t>Floods remain one of the most destructive natural disasters, and current systems have several gaps. The problem can be analyzed as follows:</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Lack of reliable real-time flood monitoring systems for continuous observation.</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Existing models focus mainly on forecasting but fail to provide live situational updates.</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Delayed data availability – Meteorological and hydrological data updates are too slow for dynamic flood conditions.</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High infrastructure cost – IoT and sensor-based solutions require expensive hardware and maintenance.</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Regional limitations – Hydrological models need calibration for specific regions, reducing scalability.</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Limited accessibility – Existing tools often present data in complex formats that are not usable by communities or local authorities.</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Floods account for 44% of all weather-related disasters worldwide [1].</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More than 1.6 billion people were affected globally between 2000–2019 [1].</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In India, 12% of landmass is flood-prone, causing annual damages of over </a:t>
            </a:r>
            <a:r>
              <a:rPr lang="en-US" altLang="en-US" sz="2000" dirty="0">
                <a:latin typeface="Times New Roman" panose="02020603050405020304" charset="0"/>
                <a:ea typeface="Cambria" panose="02040503050406030204" pitchFamily="18" charset="0"/>
                <a:cs typeface="Times New Roman" panose="02020603050405020304" charset="0"/>
              </a:rPr>
              <a:t>₹</a:t>
            </a:r>
            <a:r>
              <a:rPr lang="en-US" altLang="en-GB" sz="2000" dirty="0">
                <a:latin typeface="Times New Roman" panose="02020603050405020304" charset="0"/>
                <a:ea typeface="Cambria" panose="02040503050406030204" pitchFamily="18" charset="0"/>
                <a:cs typeface="Times New Roman" panose="02020603050405020304" charset="0"/>
              </a:rPr>
              <a:t>6,000 crores (~750M USD) [2].</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r>
              <a:rPr lang="en-US" altLang="en-GB" sz="2000" dirty="0">
                <a:latin typeface="Times New Roman" panose="02020603050405020304" charset="0"/>
                <a:ea typeface="Cambria" panose="02040503050406030204" pitchFamily="18" charset="0"/>
                <a:cs typeface="Times New Roman" panose="02020603050405020304" charset="0"/>
              </a:rPr>
              <a:t>Effective monitoring can reduce casualties, economic losses, and improve disaster response.</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endParaRPr lang="en-US" altLang="en-GB" sz="2000" dirty="0">
              <a:latin typeface="Times New Roman" panose="02020603050405020304" charset="0"/>
              <a:ea typeface="Cambria" panose="02040503050406030204" pitchFamily="18" charset="0"/>
              <a:cs typeface="Times New Roman" panose="02020603050405020304" charset="0"/>
            </a:endParaRPr>
          </a:p>
          <a:p>
            <a:pPr marL="495300" lvl="0" indent="-342900" algn="just" rtl="0">
              <a:lnSpc>
                <a:spcPct val="100000"/>
              </a:lnSpc>
              <a:spcBef>
                <a:spcPts val="0"/>
              </a:spcBef>
              <a:spcAft>
                <a:spcPts val="0"/>
              </a:spcAft>
              <a:buClr>
                <a:schemeClr val="dk1"/>
              </a:buClr>
              <a:buSzPct val="100000"/>
            </a:pPr>
            <a:endParaRPr lang="en-US" altLang="en-GB" sz="20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Innovation or Novel Contributions:</a:t>
            </a:r>
            <a:br>
              <a:rPr lang="en-US" sz="3600" dirty="0">
                <a:latin typeface="Cambria" panose="02040503050406030204" pitchFamily="18" charset="0"/>
                <a:ea typeface="Cambria" panose="02040503050406030204" pitchFamily="18" charset="0"/>
              </a:rPr>
            </a:br>
            <a:endParaRPr lang="en-IN" dirty="0"/>
          </a:p>
        </p:txBody>
      </p:sp>
      <p:pic>
        <p:nvPicPr>
          <p:cNvPr id="3" name="Picture 2"/>
          <p:cNvPicPr>
            <a:picLocks noChangeAspect="1"/>
          </p:cNvPicPr>
          <p:nvPr/>
        </p:nvPicPr>
        <p:blipFill>
          <a:blip r:embed="rId1"/>
          <a:stretch>
            <a:fillRect/>
          </a:stretch>
        </p:blipFill>
        <p:spPr>
          <a:xfrm>
            <a:off x="1870710" y="990600"/>
            <a:ext cx="7273290" cy="3023235"/>
          </a:xfrm>
          <a:prstGeom prst="rect">
            <a:avLst/>
          </a:prstGeom>
        </p:spPr>
      </p:pic>
      <p:pic>
        <p:nvPicPr>
          <p:cNvPr id="4" name="Picture 3"/>
          <p:cNvPicPr>
            <a:picLocks noChangeAspect="1"/>
          </p:cNvPicPr>
          <p:nvPr/>
        </p:nvPicPr>
        <p:blipFill>
          <a:blip r:embed="rId2"/>
          <a:stretch>
            <a:fillRect/>
          </a:stretch>
        </p:blipFill>
        <p:spPr>
          <a:xfrm>
            <a:off x="1870710" y="4013835"/>
            <a:ext cx="7315200" cy="21609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Innovation or Novel Contributions:</a:t>
            </a:r>
            <a:br>
              <a:rPr lang="en-US" sz="3600" dirty="0">
                <a:latin typeface="Cambria" panose="02040503050406030204" pitchFamily="18" charset="0"/>
                <a:ea typeface="Cambria" panose="02040503050406030204" pitchFamily="18" charset="0"/>
              </a:rPr>
            </a:br>
            <a:endParaRPr lang="en-IN" dirty="0"/>
          </a:p>
        </p:txBody>
      </p:sp>
      <p:pic>
        <p:nvPicPr>
          <p:cNvPr id="4" name="Picture 3"/>
          <p:cNvPicPr>
            <a:picLocks noChangeAspect="1"/>
          </p:cNvPicPr>
          <p:nvPr/>
        </p:nvPicPr>
        <p:blipFill>
          <a:blip r:embed="rId1"/>
          <a:stretch>
            <a:fillRect/>
          </a:stretch>
        </p:blipFill>
        <p:spPr>
          <a:xfrm>
            <a:off x="2324100" y="943610"/>
            <a:ext cx="7646035" cy="2263775"/>
          </a:xfrm>
          <a:prstGeom prst="rect">
            <a:avLst/>
          </a:prstGeom>
        </p:spPr>
      </p:pic>
      <p:pic>
        <p:nvPicPr>
          <p:cNvPr id="6" name="Picture 5"/>
          <p:cNvPicPr>
            <a:picLocks noChangeAspect="1"/>
          </p:cNvPicPr>
          <p:nvPr/>
        </p:nvPicPr>
        <p:blipFill>
          <a:blip r:embed="rId2"/>
          <a:stretch>
            <a:fillRect/>
          </a:stretch>
        </p:blipFill>
        <p:spPr>
          <a:xfrm>
            <a:off x="2327275" y="3308985"/>
            <a:ext cx="7579360" cy="23983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br>
              <a:rPr lang="en-US" dirty="0">
                <a:latin typeface="Cambria" panose="02040503050406030204" pitchFamily="18" charset="0"/>
                <a:ea typeface="Cambria" panose="02040503050406030204" pitchFamily="18" charset="0"/>
                <a:sym typeface="+mn-ea"/>
              </a:rPr>
            </a:br>
            <a:r>
              <a:rPr lang="en-US" dirty="0">
                <a:latin typeface="Cambria" panose="02040503050406030204" pitchFamily="18" charset="0"/>
                <a:ea typeface="Cambria" panose="02040503050406030204" pitchFamily="18" charset="0"/>
                <a:sym typeface="+mn-ea"/>
              </a:rPr>
              <a:t>Innovation or Novel Contributions:</a:t>
            </a:r>
            <a:br>
              <a:rPr lang="en-US" dirty="0">
                <a:latin typeface="Cambria" panose="02040503050406030204" pitchFamily="18" charset="0"/>
                <a:ea typeface="Cambria" panose="02040503050406030204" pitchFamily="18" charset="0"/>
                <a:sym typeface="+mn-ea"/>
              </a:rPr>
            </a:br>
            <a:endParaRPr lang="en-GB" altLang="en-US"/>
          </a:p>
        </p:txBody>
      </p:sp>
      <p:pic>
        <p:nvPicPr>
          <p:cNvPr id="4" name="Picture 3"/>
          <p:cNvPicPr>
            <a:picLocks noChangeAspect="1"/>
          </p:cNvPicPr>
          <p:nvPr/>
        </p:nvPicPr>
        <p:blipFill>
          <a:blip r:embed="rId1"/>
          <a:stretch>
            <a:fillRect/>
          </a:stretch>
        </p:blipFill>
        <p:spPr>
          <a:xfrm>
            <a:off x="1219200" y="1428750"/>
            <a:ext cx="9753600" cy="4000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err="1">
                <a:latin typeface="Cambria" panose="02040503050406030204" pitchFamily="18" charset="0"/>
                <a:ea typeface="Cambria" panose="02040503050406030204" pitchFamily="18" charset="0"/>
              </a:rPr>
              <a:t>Github</a:t>
            </a:r>
            <a:r>
              <a:rPr lang="en-US" dirty="0">
                <a:latin typeface="Cambria" panose="02040503050406030204" pitchFamily="18" charset="0"/>
                <a:ea typeface="Cambria" panose="02040503050406030204" pitchFamily="18" charset="0"/>
              </a:rPr>
              <a:t>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694055" y="1083945"/>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a:solidFill>
                  <a:schemeClr val="accent2">
                    <a:lumMod val="75000"/>
                  </a:schemeClr>
                </a:solidFill>
                <a:latin typeface="Cambria" panose="02040503050406030204" pitchFamily="18" charset="0"/>
                <a:ea typeface="Cambria" panose="02040503050406030204" pitchFamily="18" charset="0"/>
                <a:sym typeface="+mn-ea"/>
              </a:rPr>
              <a:t>Github Link</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None/>
            </a:pPr>
            <a:r>
              <a:rPr lang="en-US" dirty="0">
                <a:latin typeface="Cambria" panose="02040503050406030204" pitchFamily="18" charset="0"/>
                <a:ea typeface="Cambria" panose="02040503050406030204" pitchFamily="18" charset="0"/>
                <a:sym typeface="+mn-ea"/>
                <a:hlinkClick r:id="rId1"/>
              </a:rPr>
              <a:t>https://github.com/VandanGowdaR/AI-Based-Real-Time-Flood-Monitoring.git</a:t>
            </a: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6" name="Picture 5"/>
          <p:cNvPicPr>
            <a:picLocks noChangeAspect="1"/>
          </p:cNvPicPr>
          <p:nvPr/>
        </p:nvPicPr>
        <p:blipFill>
          <a:blip r:embed="rId1"/>
          <a:stretch>
            <a:fillRect/>
          </a:stretch>
        </p:blipFill>
        <p:spPr>
          <a:xfrm>
            <a:off x="639088" y="1096951"/>
            <a:ext cx="8184265" cy="49105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06323" y="877530"/>
            <a:ext cx="10668000" cy="4953000"/>
          </a:xfrm>
          <a:prstGeom prst="rect">
            <a:avLst/>
          </a:prstGeom>
          <a:noFill/>
          <a:ln>
            <a:noFill/>
          </a:ln>
        </p:spPr>
        <p:txBody>
          <a:bodyPr spcFirstLastPara="1" wrap="square" lIns="91425" tIns="45700" rIns="91425" bIns="45700" anchor="t" anchorCtr="0">
            <a:noAutofit/>
          </a:bodyPr>
          <a:lstStyle/>
          <a:p>
            <a:r>
              <a:rPr lang="en-US" altLang="en-GB" sz="2000" dirty="0">
                <a:latin typeface="Times New Roman" panose="02020603050405020304" charset="0"/>
                <a:ea typeface="Cambria" panose="02040503050406030204" pitchFamily="18" charset="0"/>
                <a:cs typeface="Times New Roman" panose="02020603050405020304" charset="0"/>
              </a:rPr>
              <a:t>[1] G. Nearing, D. Cohen, V. Dube, et al., “Global prediction of extreme floods in ungauged watersheds,” Nature, vol. 627, pp. 559–563, 2024.</a:t>
            </a:r>
            <a:endParaRPr lang="en-US" altLang="en-GB" sz="2000" dirty="0">
              <a:latin typeface="Times New Roman" panose="02020603050405020304" charset="0"/>
              <a:ea typeface="Cambria" panose="02040503050406030204" pitchFamily="18" charset="0"/>
              <a:cs typeface="Times New Roman" panose="02020603050405020304" charset="0"/>
            </a:endParaRPr>
          </a:p>
          <a:p>
            <a:pPr marL="76200" indent="0">
              <a:buNone/>
            </a:pPr>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[2] J. Li, G. Wu, Y. Zhang, and W. Shi, “Optimizing flood predictions by integrating LSTM,” Heliyon, vol. 10, no. 13, 2024.</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[3] H. Wahba, A. El Afandi, and M. Almazroui, “Flash-flood susceptibility mapping using </a:t>
            </a:r>
            <a:r>
              <a:rPr lang="en-US" altLang="en-GB" sz="2000" dirty="0">
                <a:latin typeface="Times New Roman" panose="02020603050405020304" charset="0"/>
                <a:ea typeface="Cambria" panose="02040503050406030204" pitchFamily="18" charset="0"/>
                <a:cs typeface="Times New Roman" panose="02020603050405020304" charset="0"/>
              </a:rPr>
              <a:t>Random Forest,” Heliyon, vol. 10, no. 13, 2024.</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[4] H. Wahba, A. El Afandi, and M. Almazroui, “Minimalist data-driven hydrology with machine learning components,” Heliyon, 2024.</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[5] A. Rajab, H. Farman, N. Islam, D. Syed, and M. A. Elmagzoub, “Flood forecasting with machine learning: a study leveraging historic climatic records of Bangladesh,” Water, vol. 15, no. 22, p. 3970, 2023.</a:t>
            </a:r>
            <a:endParaRPr lang="en-US" altLang="en-GB" sz="20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p:cNvSpPr>
            <a:spLocks noGrp="1"/>
          </p:cNvSpPr>
          <p:nvPr>
            <p:ph type="body" idx="1"/>
          </p:nvPr>
        </p:nvSpPr>
        <p:spPr>
          <a:xfrm>
            <a:off x="812800" y="865506"/>
            <a:ext cx="10668000" cy="4953000"/>
          </a:xfrm>
        </p:spPr>
        <p:txBody>
          <a:bodyPr>
            <a:noAutofit/>
          </a:bodyPr>
          <a:lstStyle/>
          <a:p>
            <a:r>
              <a:rPr lang="en-US" altLang="en-GB" sz="2000" dirty="0">
                <a:latin typeface="Times New Roman" panose="02020603050405020304" charset="0"/>
                <a:ea typeface="Cambria" panose="02040503050406030204" pitchFamily="18" charset="0"/>
                <a:cs typeface="Times New Roman" panose="02020603050405020304" charset="0"/>
              </a:rPr>
              <a:t>[6] H. Wahba, A. El Afandi, and M. Almazroui, “Flash-flood susceptibility mapping using Random Forest with spatial predictors,” Heliyon, 2024.</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[7] C. Albertini, A. Gioia, V. Iacobellis, G. P. Petropoulos, and S. Manfreda, “Multi-source Random Forest classification of floods: assessing robustness of predictor variables in flooded areas,” Remote Sensing Applications: Society and Environment, vol. 35, p. 101239, 2024.</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[8] X. Tang, L. Zhang, and Y. Chen, “Flood forecasting based on machine learning patterns for extreme flood events,” Journal of Hydrology, 2023.</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[9] X. Tang, L. Zhang, and Y. Chen, “Ensemble machine learning models for classifying extreme flood risk,” Journal of Hydrology, 2023.</a:t>
            </a:r>
            <a:endParaRPr lang="en-US" altLang="en-GB" sz="2000" dirty="0">
              <a:latin typeface="Times New Roman" panose="02020603050405020304" charset="0"/>
              <a:ea typeface="Cambria" panose="02040503050406030204" pitchFamily="18" charset="0"/>
              <a:cs typeface="Times New Roman" panose="02020603050405020304" charset="0"/>
            </a:endParaRPr>
          </a:p>
          <a:p>
            <a:endParaRPr lang="en-US" altLang="en-GB" sz="2000" dirty="0">
              <a:latin typeface="Times New Roman" panose="02020603050405020304" charset="0"/>
              <a:ea typeface="Cambria" panose="02040503050406030204" pitchFamily="18" charset="0"/>
              <a:cs typeface="Times New Roman" panose="02020603050405020304" charset="0"/>
            </a:endParaRPr>
          </a:p>
          <a:p>
            <a:r>
              <a:rPr lang="en-US" altLang="en-GB" sz="2000" dirty="0">
                <a:latin typeface="Times New Roman" panose="02020603050405020304" charset="0"/>
                <a:ea typeface="Cambria" panose="02040503050406030204" pitchFamily="18" charset="0"/>
                <a:cs typeface="Times New Roman" panose="02020603050405020304" charset="0"/>
              </a:rPr>
              <a:t>[10] F. Hirpa, P. Salamon, H. Beck, V. Lorini, L. Alfieri, E. Zsoter, and S. Dadson, “Calibration of the Global Flood Awareness System (GloFAS) using daily streamflow data,” Journal of Hydrology, vol. 566, pp. 595–606, 2018.</a:t>
            </a:r>
            <a:endParaRPr lang="en-US" altLang="en-GB" sz="2000" dirty="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6197</Words>
  <Application>WPS Presentation</Application>
  <PresentationFormat>Widescreen</PresentationFormat>
  <Paragraphs>152</Paragraphs>
  <Slides>14</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Arial</vt:lpstr>
      <vt:lpstr>Verdana</vt:lpstr>
      <vt:lpstr>Bookman Old Style</vt:lpstr>
      <vt:lpstr>Cambria</vt:lpstr>
      <vt:lpstr>Microsoft YaHei</vt:lpstr>
      <vt:lpstr>Arial Unicode MS</vt:lpstr>
      <vt:lpstr>Times New Roman</vt:lpstr>
      <vt:lpstr>Snap ITC</vt:lpstr>
      <vt:lpstr>Bioinformatics</vt:lpstr>
      <vt:lpstr>Udyog-Saarthi App For PWDs</vt:lpstr>
      <vt:lpstr>Content</vt:lpstr>
      <vt:lpstr>Problem Statement : </vt:lpstr>
      <vt:lpstr>Objectives:</vt:lpstr>
      <vt:lpstr> Background and Related work for title Selection: </vt:lpstr>
      <vt:lpstr>Analysis of Problem Statement:</vt:lpstr>
      <vt:lpstr> Innovation or Novel Contributions: </vt:lpstr>
      <vt:lpstr> Innovation or Novel Contributions: </vt:lpstr>
      <vt:lpstr>PowerPoint 演示文稿</vt:lpstr>
      <vt:lpstr>Github Link:</vt:lpstr>
      <vt:lpstr>Timeline of the Project (Gantt Chart):</vt:lpstr>
      <vt:lpstr>References (IEEE Paper format):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Vaishnavi Salunke</cp:lastModifiedBy>
  <cp:revision>42</cp:revision>
  <dcterms:created xsi:type="dcterms:W3CDTF">2025-09-24T04:19:29Z</dcterms:created>
  <dcterms:modified xsi:type="dcterms:W3CDTF">2025-09-24T05:36:45Z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2BF5E42B2E9F414E9746B172523A5AE4_12</vt:lpwstr>
  </property>
  <property fmtid="{D5CDD505-2E9C-101B-9397-08002B2CF9AE}" pid="3" name="KSOProductBuildVer">
    <vt:lpwstr>2057-12.2.0.22556</vt:lpwstr>
  </property>
</Properties>
</file>