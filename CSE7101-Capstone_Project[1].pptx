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69" r:id="rId5"/>
    <p:sldId id="257" r:id="rId6"/>
    <p:sldId id="275" r:id="rId7"/>
    <p:sldId id="276" r:id="rId8"/>
    <p:sldId id="273" r:id="rId9"/>
    <p:sldId id="274" r:id="rId10"/>
    <p:sldId id="268" r:id="rId11"/>
    <p:sldId id="272" r:id="rId12"/>
    <p:sldId id="270" r:id="rId13"/>
    <p:sldId id="265" r:id="rId14"/>
    <p:sldId id="266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7690726-49DA-4552-BDEB-330DD8EA8BD9}" styleName="Table_0">
    <a:wholeTbl>
      <a:tcTxStyle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 panose="020B0604030504040204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 sz="2800" b="1" i="0" u="none" strike="noStrike" cap="none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/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/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/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2"/>
          <a:srcRect b="18046"/>
          <a:stretch>
            <a:fillRect/>
          </a:stretch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github.com/VandanGowdaR/AI-Based-Real-Time-Flood-Monitoring.git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IN" sz="2400" dirty="0"/>
              <a:t>“AI-Based Real-Time Flood Monitoring”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 </a:t>
            </a:r>
            <a:r>
              <a:rPr lang="en-IN" alt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CAI_3</a:t>
            </a:r>
            <a:endParaRPr lang="en-IN" altLang="en-GB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 err="1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Dr.Mohammadi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Akheela Khanum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graphicFrame>
        <p:nvGraphicFramePr>
          <p:cNvPr id="89" name="Google Shape;89;p13"/>
          <p:cNvGraphicFramePr/>
          <p:nvPr/>
        </p:nvGraphicFramePr>
        <p:xfrm>
          <a:off x="553347" y="2721840"/>
          <a:ext cx="5418675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/>
                <a:gridCol w="3333675"/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Review-1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Program: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B.Tech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C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omputer Science &amp; Engineering(Artificial Intelligence &amp; Machine Learning)</a:t>
            </a:r>
            <a:endParaRPr lang="en-US"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HoD: </a:t>
            </a:r>
            <a:r>
              <a:rPr lang="en-US" sz="1800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Dr.Zafar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Ali Khan N</a:t>
            </a:r>
            <a:endParaRPr lang="en-US" sz="1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 Project Coordinator: 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Ms. Suma N G</a:t>
            </a:r>
            <a:endParaRPr lang="en-US" sz="1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Sampath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A K , 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Geetha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A </a:t>
            </a:r>
            <a:endParaRPr lang="en-US"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25527" y="2677872"/>
          <a:ext cx="5418675" cy="1492808"/>
        </p:xfrm>
        <a:graphic>
          <a:graphicData uri="http://schemas.openxmlformats.org/drawingml/2006/table">
            <a:tbl>
              <a:tblPr firstRow="1" bandRow="1"/>
              <a:tblGrid>
                <a:gridCol w="2337338"/>
                <a:gridCol w="3081337"/>
              </a:tblGrid>
              <a:tr h="37320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73202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20231CAI3009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VANDAN GOWDA R</a:t>
                      </a:r>
                      <a:endParaRPr lang="en-IN" dirty="0"/>
                    </a:p>
                  </a:txBody>
                  <a:tcPr/>
                </a:tc>
              </a:tr>
              <a:tr h="373202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20221CAI0118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VAISHNAVI SALUNKE</a:t>
                      </a:r>
                      <a:endParaRPr lang="en-IN" dirty="0"/>
                    </a:p>
                  </a:txBody>
                  <a:tcPr/>
                </a:tc>
              </a:tr>
              <a:tr h="373202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20221CAI0112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ANUSHA H G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spcBef>
                <a:spcPts val="0"/>
              </a:spcBef>
              <a:buNone/>
            </a:pPr>
            <a:r>
              <a:rPr lang="en-US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Organization: </a:t>
            </a:r>
            <a:endParaRPr lang="en-US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Presidency university</a:t>
            </a:r>
            <a:endParaRPr lang="en-US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342900" lvl="0" indent="-190500" algn="just">
              <a:spcBef>
                <a:spcPts val="0"/>
              </a:spcBef>
              <a:buNone/>
            </a:pPr>
            <a:endParaRPr lang="en-US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Category(Software):</a:t>
            </a:r>
            <a:endParaRPr lang="en-US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(AI, ML, Web Technology)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190500" algn="just">
              <a:spcBef>
                <a:spcPts val="0"/>
              </a:spcBef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Description:</a:t>
            </a:r>
            <a:endParaRPr lang="en-US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342900" lvl="0" indent="-190500" algn="just">
              <a:spcBef>
                <a:spcPts val="0"/>
              </a:spcBef>
              <a:buNone/>
            </a:pPr>
            <a:endParaRPr lang="en-US" altLang="en-GB" sz="16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altLang="en-GB" sz="1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This problem statement focuses on applying artificial intelligence or machine learning algorithms to automate tasks, enhance decision-making, and provide predictive analytics in fields such as public services, agriculture, health,</a:t>
            </a:r>
            <a:r>
              <a:rPr lang="en-US" altLang="en-US" sz="1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 </a:t>
            </a:r>
            <a:r>
              <a:rPr lang="en-US" altLang="en-GB" sz="1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or</a:t>
            </a:r>
            <a:r>
              <a:rPr lang="en-US" altLang="en-US" sz="1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 </a:t>
            </a:r>
            <a:r>
              <a:rPr lang="en-US" altLang="en-GB" sz="1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utilities.</a:t>
            </a:r>
            <a:endParaRPr lang="en-US" altLang="en-GB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lvl="0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There is a need for an </a:t>
            </a: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ML-based system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that integrates meteorological and hydrological data with machine learning models to provide </a:t>
            </a: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flood forecasting, early warning, and decision support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effective disaster management.</a:t>
            </a: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190500" algn="just">
              <a:spcBef>
                <a:spcPts val="0"/>
              </a:spcBef>
              <a:buNone/>
            </a:pP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46627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Background and Related work for title Selection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Innovation or Novel Contributions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Git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-hub Link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Objectives</a:t>
            </a:r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0000"/>
          </a:bodyPr>
          <a:p>
            <a:r>
              <a:rPr lang="en-US" altLang="en-GB">
                <a:latin typeface="Times New Roman" panose="02020603050405020304" pitchFamily="18" charset="0"/>
                <a:cs typeface="Times New Roman" panose="02020603050405020304" pitchFamily="18" charset="0"/>
              </a:rPr>
              <a:t>To collect and integrate flood-related data (meteorological, hydrological, geospatial, and crowd-sourced) from multiple sources such as TMD Big Data and GLOFAS.</a:t>
            </a:r>
            <a:endParaRPr lang="en-US" alt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and train AI/ML models for accurate real-time prediction of precipitation, water levels, and potential flood-</a:t>
            </a:r>
            <a:r>
              <a:rPr lang="en-I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based</a:t>
            </a:r>
            <a:r>
              <a:rPr lang="en-US" altLang="en-GB">
                <a:latin typeface="Times New Roman" panose="02020603050405020304" pitchFamily="18" charset="0"/>
                <a:cs typeface="Times New Roman" panose="02020603050405020304" pitchFamily="18" charset="0"/>
              </a:rPr>
              <a:t> areas.</a:t>
            </a:r>
            <a:endParaRPr lang="en-US" alt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>
                <a:latin typeface="Times New Roman" panose="02020603050405020304" pitchFamily="18" charset="0"/>
                <a:cs typeface="Times New Roman" panose="02020603050405020304" pitchFamily="18" charset="0"/>
              </a:rPr>
              <a:t>To design a responsive and user-friendly web platform that provides real-time flood alerts and visualizations (heatmaps, graphs, dashboards) accessible on both desktop and mobile devices.</a:t>
            </a:r>
            <a:endParaRPr lang="en-US" alt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>
                <a:latin typeface="Times New Roman" panose="02020603050405020304" pitchFamily="18" charset="0"/>
                <a:cs typeface="Times New Roman" panose="02020603050405020304" pitchFamily="18" charset="0"/>
              </a:rPr>
              <a:t>To support disaster management authorities by enabling early evacuation planning, efficient rescue operations, and timely relief for flood victims.</a:t>
            </a:r>
            <a:endParaRPr lang="en-US" alt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Background and Related work for title Selection</a:t>
            </a:r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0000"/>
          </a:bodyPr>
          <a:p>
            <a:r>
              <a:rPr lang="en-US" altLang="en-GB">
                <a:latin typeface="Times New Roman" panose="02020603050405020304" pitchFamily="18" charset="0"/>
                <a:cs typeface="Times New Roman" panose="02020603050405020304" pitchFamily="18" charset="0"/>
              </a:rPr>
              <a:t>Flood disasters cause massive damage to life, property, and infrastructure, while traditional monitoring systems based on rainfall gauges and manual data lack real-time accuracy and automation.</a:t>
            </a:r>
            <a:endParaRPr lang="en-US" alt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>
                <a:latin typeface="Times New Roman" panose="02020603050405020304" pitchFamily="18" charset="0"/>
                <a:cs typeface="Times New Roman" panose="02020603050405020304" pitchFamily="18" charset="0"/>
              </a:rPr>
              <a:t>AI and Machine Learning techniques have emerged as powerful tools to analyze meteorological, hydrological, geospatial, and crowd-sourced data for improved flood prediction.</a:t>
            </a:r>
            <a:endParaRPr lang="en-US" alt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>
                <a:latin typeface="Times New Roman" panose="02020603050405020304" pitchFamily="18" charset="0"/>
                <a:cs typeface="Times New Roman" panose="02020603050405020304" pitchFamily="18" charset="0"/>
              </a:rPr>
              <a:t>Prior research (Puttinaovarat &amp; Horkaew, Chang &amp; Chang, Tayfur &amp; Singh, Choi &amp; Kim) shows that ML models like Decision Trees, Random Forests, ANN, and SVM enhance forecasting accuracy but still lack user-friendly, real-time, web-based integration.</a:t>
            </a:r>
            <a:endParaRPr lang="en-US" alt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>
                <a:latin typeface="Times New Roman" panose="02020603050405020304" pitchFamily="18" charset="0"/>
                <a:cs typeface="Times New Roman" panose="02020603050405020304" pitchFamily="18" charset="0"/>
              </a:rPr>
              <a:t>The title “AI-Based Real-Time Flood Monitoring” reflects the project’s goal of combining big data, ML models, and responsive web technology to deliver an automated, accurate, and accessible flood alert system.</a:t>
            </a:r>
            <a:endParaRPr lang="en-US" alt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Flood disasters cause </a:t>
            </a:r>
            <a:r>
              <a:rPr lang="en-US" alt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loss of life, property damage, and infrastructure disruption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existing systems often fail to provide </a:t>
            </a:r>
            <a:r>
              <a:rPr lang="en-US" alt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timely and reliable flood forecasts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flood forecasting tools are </a:t>
            </a:r>
            <a:r>
              <a:rPr lang="en-US" alt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manual, data-intensive, and not suitable for real-time early warning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making evacuation and rescue missions less effective.</a:t>
            </a:r>
            <a:endParaRPr lang="en-US" alt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is a critical need for a </a:t>
            </a:r>
            <a:r>
              <a:rPr lang="en-US" alt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responsive web-based system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that supports </a:t>
            </a:r>
            <a:r>
              <a:rPr lang="en-US" alt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automation, availability, and usability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both authorities and the public.</a:t>
            </a:r>
            <a:endParaRPr lang="en-US" alt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novel system can be developed by </a:t>
            </a:r>
            <a:r>
              <a:rPr lang="en-US" alt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fusing meteorological, hydrological, geospatial, and crowd-sourced data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n-US" alt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forecast precipitation and predict flood-prone areas in real time.</a:t>
            </a:r>
            <a:endParaRPr lang="en-US" alt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sz="26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b="1" dirty="0"/>
              <a:t>Technology Stack Components:</a:t>
            </a:r>
            <a:endParaRPr lang="en-IN" b="1" dirty="0"/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TMD Big Data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Hourly precipitation and rainfall prediction.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GLOFAS (Global Flood Awareness System)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Hydrological and water flow data.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Geospatial Data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Location-specific flood risk information.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Crowd-Sourced Data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Real-time inputs from affected communities.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Tree, Random Forest, ANN</a:t>
            </a:r>
            <a:r>
              <a:rPr lang="en-US" alt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SVM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evaluating and predicting flood situations.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Forecasting precipitation, water levels, and flood-prone zones.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Technologies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3.10.4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AI/ML development.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real-time data integration (e.g., weather.visualcrossing.com).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Technologies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Technology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HTML5, CSS3, JavaScript, Bootstrap.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Tools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Interactive heatmaps, flood predictions, and dashboards.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Hosting (AWS/Azure/GCP)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distributed, real-time access.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Cross-platform compatibility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desktops and mobiles.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/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/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  <a:endParaRPr lang="en-US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hlinkClick r:id="rId1"/>
              </a:rPr>
              <a:t>https://github.com/VandanGowdaR/AI-Based-Real-Time-Flood-Monitoring.git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Software and Hardware Requirements: </a:t>
            </a:r>
            <a:endParaRPr lang="en-US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Windows 8 / 10 / 11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Python 3.10.4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Frameworks &amp; Libraries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  Technologies: </a:t>
            </a:r>
            <a:r>
              <a:rPr lang="en-US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Flask, TensorFlow / Scikit-learn / NumPy / Pandas </a:t>
            </a:r>
            <a:endParaRPr lang="en-US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 Technologies</a:t>
            </a:r>
            <a:r>
              <a:rPr lang="en-US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HTML5, CSS3, JavaScript, Bootstrap </a:t>
            </a:r>
            <a:endParaRPr lang="en-US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 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Visual Studio Code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IN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Requirements: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Processor</a:t>
            </a:r>
            <a:r>
              <a:rPr lang="en-US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Intel i5 / i7 </a:t>
            </a:r>
            <a:endParaRPr lang="en-US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RAM</a:t>
            </a:r>
            <a:r>
              <a:rPr lang="en-US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8–16 GB</a:t>
            </a:r>
            <a:endParaRPr lang="en-US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Storage</a:t>
            </a:r>
            <a:r>
              <a:rPr lang="en-US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100 GB SSD </a:t>
            </a:r>
            <a:endParaRPr lang="en-US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Internet</a:t>
            </a:r>
            <a:r>
              <a:rPr lang="en-US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High-speed connection for real-time data fetching and cloud sync</a:t>
            </a:r>
            <a:endParaRPr lang="en-US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endParaRPr lang="en-US" sz="1400" dirty="0"/>
          </a:p>
          <a:p>
            <a:pPr marL="76200" indent="0">
              <a:buNone/>
            </a:pPr>
            <a:endParaRPr lang="en-US" sz="1400" dirty="0"/>
          </a:p>
          <a:p>
            <a:pPr marL="76200" indent="0">
              <a:buNone/>
            </a:pPr>
            <a:endParaRPr lang="en-US" sz="1400" dirty="0"/>
          </a:p>
          <a:p>
            <a:pPr marL="76200" indent="0" algn="just">
              <a:buNone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9088" y="1096951"/>
            <a:ext cx="8184265" cy="491055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95300" indent="-342900">
              <a:spcBef>
                <a:spcPts val="0"/>
              </a:spcBef>
              <a:buFont typeface="+mj-lt"/>
              <a:buAutoNum type="arabicPeriod"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r>
              <a:rPr lang="en-US" sz="1600" b="1" dirty="0"/>
              <a:t>P. Ghorpade, A. Gadge, H. </a:t>
            </a:r>
            <a:r>
              <a:rPr lang="en-US" sz="1600" b="1" dirty="0" err="1"/>
              <a:t>Chordiya</a:t>
            </a:r>
            <a:r>
              <a:rPr lang="en-US" sz="1600" b="1" dirty="0"/>
              <a:t>, B. Hooli, A. Lende, G. Gosavi, Y. S. Ingle, A. Mishra, and N. Shaikh</a:t>
            </a:r>
            <a:r>
              <a:rPr lang="en-US" sz="1600" dirty="0"/>
              <a:t>, “Flood Forecasting Using Machine Learning: A Review,” in </a:t>
            </a:r>
            <a:r>
              <a:rPr lang="en-US" sz="1600" i="1" dirty="0"/>
              <a:t>Proc. 2021 8th International Conference on Smart Computing and Communications 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r>
              <a:rPr lang="en-IN" sz="1600" b="1" dirty="0"/>
              <a:t>S. Ramasamy, P. Ranjith Kumar, M. Vimala, N. Najmul Sahi, A. Rajesh, and S. Siddharth</a:t>
            </a:r>
            <a:r>
              <a:rPr lang="en-IN" sz="1600" dirty="0"/>
              <a:t>, “Flood Prediction Using Supervised Machine Learning Algorithms,” in </a:t>
            </a:r>
            <a:r>
              <a:rPr lang="en-IN" sz="1600" i="1" dirty="0"/>
              <a:t>Proc. 2024 5th International Conference on Smart Electronics and Communication</a:t>
            </a:r>
            <a:endParaRPr lang="en-IN" sz="1600" i="1" dirty="0"/>
          </a:p>
          <a:p>
            <a:pPr marL="152400" indent="0">
              <a:spcBef>
                <a:spcPts val="0"/>
              </a:spcBef>
              <a:buNone/>
            </a:pPr>
            <a:endParaRPr lang="en-IN" sz="1600" i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r>
              <a:rPr lang="en-IN" sz="1600" b="1" dirty="0"/>
              <a:t>J. Gupta</a:t>
            </a:r>
            <a:r>
              <a:rPr lang="en-IN" sz="1600" dirty="0"/>
              <a:t>, “AI-Enhanced Flood Warning Systems with IoT Sensors in Urban Zones,” </a:t>
            </a:r>
            <a:r>
              <a:rPr lang="en-IN" sz="1600" i="1" dirty="0"/>
              <a:t>International Journal for Research in Applied Science and Engineering Technology</a:t>
            </a:r>
            <a:r>
              <a:rPr lang="en-IN" sz="1600" dirty="0"/>
              <a:t>, vol. 6, no. (issue), pp. 73561–73571, 2018, </a:t>
            </a:r>
            <a:r>
              <a:rPr lang="en-IN" sz="1600" dirty="0" err="1"/>
              <a:t>doi</a:t>
            </a:r>
            <a:r>
              <a:rPr lang="en-IN" sz="1600" dirty="0"/>
              <a:t>: 10.14569/IJACSA.2018.091187. (Published via IEEE Access)</a:t>
            </a:r>
            <a:endParaRPr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5886</Words>
  <Application>WPS Presentation</Application>
  <PresentationFormat>Widescreen</PresentationFormat>
  <Paragraphs>180</Paragraphs>
  <Slides>12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Arial</vt:lpstr>
      <vt:lpstr>SimSun</vt:lpstr>
      <vt:lpstr>Wingdings</vt:lpstr>
      <vt:lpstr>Arial</vt:lpstr>
      <vt:lpstr>Verdana</vt:lpstr>
      <vt:lpstr>Bookman Old Style</vt:lpstr>
      <vt:lpstr>Cambria</vt:lpstr>
      <vt:lpstr>Times New Roman</vt:lpstr>
      <vt:lpstr>Microsoft YaHei</vt:lpstr>
      <vt:lpstr>Arial Unicode MS</vt:lpstr>
      <vt:lpstr>Bioinformatics</vt:lpstr>
      <vt:lpstr>“AI-Based Real-Time Flood Monitoring”</vt:lpstr>
      <vt:lpstr>Problem Statement Number: </vt:lpstr>
      <vt:lpstr>Content</vt:lpstr>
      <vt:lpstr>Objectives</vt:lpstr>
      <vt:lpstr>Background and Related work for title Selection</vt:lpstr>
      <vt:lpstr>Analysis of Problem Statement</vt:lpstr>
      <vt:lpstr>PowerPoint 演示文稿</vt:lpstr>
      <vt:lpstr>Github Link</vt:lpstr>
      <vt:lpstr>Analysis of Problem Statement (contd...)</vt:lpstr>
      <vt:lpstr>Timeline of the Project (Gantt Chart)</vt:lpstr>
      <vt:lpstr>References (IEEE Paper format)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Vaishnavi Salunke</cp:lastModifiedBy>
  <cp:revision>45</cp:revision>
  <dcterms:created xsi:type="dcterms:W3CDTF">2025-08-20T09:28:00Z</dcterms:created>
  <dcterms:modified xsi:type="dcterms:W3CDTF">2025-08-20T10:21:23Z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5153C50E1112488081FCFF112AD3D1C3_12</vt:lpwstr>
  </property>
  <property fmtid="{D5CDD505-2E9C-101B-9397-08002B2CF9AE}" pid="3" name="KSOProductBuildVer">
    <vt:lpwstr>2057-12.2.0.21936</vt:lpwstr>
  </property>
</Properties>
</file>